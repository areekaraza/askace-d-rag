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1" d="100"/>
          <a:sy n="71" d="100"/>
        </p:scale>
        <p:origin x="121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FD0661-8AFA-4938-8B0C-73BCFB9B303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C22A76-0A76-4C27-9B75-BE21801EE3A0}">
      <dgm:prSet/>
      <dgm:spPr/>
      <dgm:t>
        <a:bodyPr/>
        <a:lstStyle/>
        <a:p>
          <a:pPr algn="just"/>
          <a:r>
            <a:rPr lang="en-US" dirty="0"/>
            <a:t>Parallel algorithms are algorithms designed to </a:t>
          </a:r>
          <a:r>
            <a:rPr lang="en-US" b="1" dirty="0"/>
            <a:t>divide a problem into multiple independent tasks</a:t>
          </a:r>
          <a:r>
            <a:rPr lang="en-US" dirty="0"/>
            <a:t> that can be executed </a:t>
          </a:r>
          <a:r>
            <a:rPr lang="en-US" b="1" dirty="0"/>
            <a:t>simultaneously</a:t>
          </a:r>
          <a:r>
            <a:rPr lang="en-US" dirty="0"/>
            <a:t> on multiple processing units (CPU cores, GPU threads, or distributed nodes).</a:t>
          </a:r>
        </a:p>
      </dgm:t>
    </dgm:pt>
    <dgm:pt modelId="{10AAFB59-D4E9-47F1-B6D5-ED038BEA95F0}" type="parTrans" cxnId="{F511D448-B864-4700-BC11-EA95598E910F}">
      <dgm:prSet/>
      <dgm:spPr/>
      <dgm:t>
        <a:bodyPr/>
        <a:lstStyle/>
        <a:p>
          <a:endParaRPr lang="en-US"/>
        </a:p>
      </dgm:t>
    </dgm:pt>
    <dgm:pt modelId="{595064FA-DFB8-4571-BF22-88A2DDBE9DE7}" type="sibTrans" cxnId="{F511D448-B864-4700-BC11-EA95598E910F}">
      <dgm:prSet/>
      <dgm:spPr/>
      <dgm:t>
        <a:bodyPr/>
        <a:lstStyle/>
        <a:p>
          <a:endParaRPr lang="en-US"/>
        </a:p>
      </dgm:t>
    </dgm:pt>
    <dgm:pt modelId="{CDBC9E2B-E5B0-46D4-90CC-A1E34FF6E1C4}">
      <dgm:prSet/>
      <dgm:spPr/>
      <dgm:t>
        <a:bodyPr/>
        <a:lstStyle/>
        <a:p>
          <a:pPr algn="just"/>
          <a:r>
            <a:rPr lang="en-US" dirty="0"/>
            <a:t>They aim to reduce the total execution time and improve scalability when dealing with large or complex datasets.</a:t>
          </a:r>
        </a:p>
      </dgm:t>
    </dgm:pt>
    <dgm:pt modelId="{DE9808FD-5290-42DF-9696-14E455985E2B}" type="parTrans" cxnId="{BC761C8E-6963-442F-A352-BD91E008426A}">
      <dgm:prSet/>
      <dgm:spPr/>
      <dgm:t>
        <a:bodyPr/>
        <a:lstStyle/>
        <a:p>
          <a:endParaRPr lang="en-US"/>
        </a:p>
      </dgm:t>
    </dgm:pt>
    <dgm:pt modelId="{C23ADBD7-ED0E-44C1-808F-A1A28012E02D}" type="sibTrans" cxnId="{BC761C8E-6963-442F-A352-BD91E008426A}">
      <dgm:prSet/>
      <dgm:spPr/>
      <dgm:t>
        <a:bodyPr/>
        <a:lstStyle/>
        <a:p>
          <a:endParaRPr lang="en-US"/>
        </a:p>
      </dgm:t>
    </dgm:pt>
    <dgm:pt modelId="{8065DF38-9EEB-4178-920D-27FCED21AEC9}" type="pres">
      <dgm:prSet presAssocID="{EDFD0661-8AFA-4938-8B0C-73BCFB9B303C}" presName="linear" presStyleCnt="0">
        <dgm:presLayoutVars>
          <dgm:animLvl val="lvl"/>
          <dgm:resizeHandles val="exact"/>
        </dgm:presLayoutVars>
      </dgm:prSet>
      <dgm:spPr/>
    </dgm:pt>
    <dgm:pt modelId="{34737E93-AD0A-4676-9DC2-C12B0A150169}" type="pres">
      <dgm:prSet presAssocID="{BEC22A76-0A76-4C27-9B75-BE21801EE3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2DA4D9C-8D14-4A7A-8421-C794F5CBECEC}" type="pres">
      <dgm:prSet presAssocID="{595064FA-DFB8-4571-BF22-88A2DDBE9DE7}" presName="spacer" presStyleCnt="0"/>
      <dgm:spPr/>
    </dgm:pt>
    <dgm:pt modelId="{F69915FE-CCD0-47F5-ABC2-64D38D217BAC}" type="pres">
      <dgm:prSet presAssocID="{CDBC9E2B-E5B0-46D4-90CC-A1E34FF6E1C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511D448-B864-4700-BC11-EA95598E910F}" srcId="{EDFD0661-8AFA-4938-8B0C-73BCFB9B303C}" destId="{BEC22A76-0A76-4C27-9B75-BE21801EE3A0}" srcOrd="0" destOrd="0" parTransId="{10AAFB59-D4E9-47F1-B6D5-ED038BEA95F0}" sibTransId="{595064FA-DFB8-4571-BF22-88A2DDBE9DE7}"/>
    <dgm:cxn modelId="{D3464E4B-8B8C-4C4F-AF06-7257FDB81277}" type="presOf" srcId="{BEC22A76-0A76-4C27-9B75-BE21801EE3A0}" destId="{34737E93-AD0A-4676-9DC2-C12B0A150169}" srcOrd="0" destOrd="0" presId="urn:microsoft.com/office/officeart/2005/8/layout/vList2"/>
    <dgm:cxn modelId="{BC761C8E-6963-442F-A352-BD91E008426A}" srcId="{EDFD0661-8AFA-4938-8B0C-73BCFB9B303C}" destId="{CDBC9E2B-E5B0-46D4-90CC-A1E34FF6E1C4}" srcOrd="1" destOrd="0" parTransId="{DE9808FD-5290-42DF-9696-14E455985E2B}" sibTransId="{C23ADBD7-ED0E-44C1-808F-A1A28012E02D}"/>
    <dgm:cxn modelId="{D9309EF0-2915-436C-A5E8-47941E298452}" type="presOf" srcId="{CDBC9E2B-E5B0-46D4-90CC-A1E34FF6E1C4}" destId="{F69915FE-CCD0-47F5-ABC2-64D38D217BAC}" srcOrd="0" destOrd="0" presId="urn:microsoft.com/office/officeart/2005/8/layout/vList2"/>
    <dgm:cxn modelId="{DC03CCF9-1C94-4C11-850F-71C6EFF40AA9}" type="presOf" srcId="{EDFD0661-8AFA-4938-8B0C-73BCFB9B303C}" destId="{8065DF38-9EEB-4178-920D-27FCED21AEC9}" srcOrd="0" destOrd="0" presId="urn:microsoft.com/office/officeart/2005/8/layout/vList2"/>
    <dgm:cxn modelId="{996A9D87-E36B-4BF4-A0A2-E15B1DFC6963}" type="presParOf" srcId="{8065DF38-9EEB-4178-920D-27FCED21AEC9}" destId="{34737E93-AD0A-4676-9DC2-C12B0A150169}" srcOrd="0" destOrd="0" presId="urn:microsoft.com/office/officeart/2005/8/layout/vList2"/>
    <dgm:cxn modelId="{D76E9792-773C-4086-823A-37CD8D64AA01}" type="presParOf" srcId="{8065DF38-9EEB-4178-920D-27FCED21AEC9}" destId="{F2DA4D9C-8D14-4A7A-8421-C794F5CBECEC}" srcOrd="1" destOrd="0" presId="urn:microsoft.com/office/officeart/2005/8/layout/vList2"/>
    <dgm:cxn modelId="{9BF5149C-619C-4AF2-AEED-1F6A274F770D}" type="presParOf" srcId="{8065DF38-9EEB-4178-920D-27FCED21AEC9}" destId="{F69915FE-CCD0-47F5-ABC2-64D38D217BA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37E93-AD0A-4676-9DC2-C12B0A150169}">
      <dsp:nvSpPr>
        <dsp:cNvPr id="0" name=""/>
        <dsp:cNvSpPr/>
      </dsp:nvSpPr>
      <dsp:spPr>
        <a:xfrm>
          <a:off x="0" y="12559"/>
          <a:ext cx="6666833" cy="2676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Parallel algorithms are algorithms designed to </a:t>
          </a:r>
          <a:r>
            <a:rPr lang="en-US" sz="2600" b="1" kern="1200" dirty="0"/>
            <a:t>divide a problem into multiple independent tasks</a:t>
          </a:r>
          <a:r>
            <a:rPr lang="en-US" sz="2600" kern="1200" dirty="0"/>
            <a:t> that can be executed </a:t>
          </a:r>
          <a:r>
            <a:rPr lang="en-US" sz="2600" b="1" kern="1200" dirty="0"/>
            <a:t>simultaneously</a:t>
          </a:r>
          <a:r>
            <a:rPr lang="en-US" sz="2600" kern="1200" dirty="0"/>
            <a:t> on multiple processing units (CPU cores, GPU threads, or distributed nodes).</a:t>
          </a:r>
        </a:p>
      </dsp:txBody>
      <dsp:txXfrm>
        <a:off x="130678" y="143237"/>
        <a:ext cx="6405477" cy="2415604"/>
      </dsp:txXfrm>
    </dsp:sp>
    <dsp:sp modelId="{F69915FE-CCD0-47F5-ABC2-64D38D217BAC}">
      <dsp:nvSpPr>
        <dsp:cNvPr id="0" name=""/>
        <dsp:cNvSpPr/>
      </dsp:nvSpPr>
      <dsp:spPr>
        <a:xfrm>
          <a:off x="0" y="2764400"/>
          <a:ext cx="6666833" cy="2676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They aim to reduce the total execution time and improve scalability when dealing with large or complex datasets.</a:t>
          </a:r>
        </a:p>
      </dsp:txBody>
      <dsp:txXfrm>
        <a:off x="130678" y="2895078"/>
        <a:ext cx="6405477" cy="24156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1D4E-CBBB-5B2B-88AA-9EFF35804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32602-15E6-228F-EB2E-265B8FE68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A18AB-BA32-6C98-78D1-26AC96F68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CAEAC-EEF2-6C89-4AB8-82D4D8F7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C7D2C-B82A-3686-A236-2C3202E7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7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3D3E-4282-7F42-5790-7BCA535B7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D2571-2741-97DE-394A-B14CF8F86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D046E-C2C1-91B3-BEE3-5123A84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1F3AF-3E59-165C-9BC7-33E0FF1A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658E2-1681-2E75-2AC6-E0D64F8F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2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A3E5-8108-D1D5-D427-C3B2F7A2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30C7E-EA8D-DAD2-227A-569F82746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253C7-D664-028E-61C2-E7D03084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7E86C-4B95-70B2-C0ED-50445385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26C4-1963-E922-71F1-DC0324ED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11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35AC-4F1C-B4A1-7F5F-81545A2FF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4A9A3-109A-B842-C4F7-D8038D45C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B3003-CB21-A608-0820-2919E0133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C0A7E-7839-23AF-E287-EFCD6A64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09D9E-C958-9385-7449-6BEF540D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80243-AC2A-B189-AF6B-00983FF8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8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546E-4E97-61A8-0D3E-C1E7394B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3407-9952-BE67-FAA2-72BCA496F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2C400-CB97-C618-C3CA-2FE23453B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8EF31C-FF49-5B22-4D25-05139D230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ABD8F2-1C31-799A-51D6-2FA7F70DA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1500CA-0FCF-F42A-9FA8-217574C2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332DB9-308C-2D92-1EB2-80934DA8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AFE45-7172-181B-20B8-50861F08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8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1488-859B-CFD1-4DE1-48C05EBD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2DE5F-42DE-86DC-52F3-44A34D77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40C4B-9A72-F2F3-54F2-B9716921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11F2DB-44EA-8853-640A-CE28E326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55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7DD44-B318-BB80-F3E6-235C5FAD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4ABF1-BF16-2C25-46C7-EB9D279B5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82C4F-751E-63A1-7FD8-1E8DFD4D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3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9A65-64F1-68F4-5B54-57931AF41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8B6A9-E99D-9C08-315B-9BA45290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35629-6F1D-998F-5A1B-4398B7788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88765-B742-F8E7-5960-8797AE1C1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F0B23-DAC4-3F0F-E343-EB49195C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B267B-E30A-548B-201B-FE80174C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73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D850F-46AE-C81C-F92B-0ED79C23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379F53-8578-6846-648A-37D58CF355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7D424-492D-29F7-34FC-BEF52BA1A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84D7B-B774-AEF6-3327-D067939A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D4ED4-3B64-8D35-6FFD-8C47142D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BA2FF-28FA-4686-AB5A-D973BC02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0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B2E9-A2B9-82AD-D6CE-6571C3E32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3512C-1850-647A-E8E6-310B9C618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EFCB4-E592-DE79-8103-9BECC46D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6D596-F21B-A24D-89FA-CC1EA8DC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D0A6D-50C5-C038-0B97-9797ED29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5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EBE9C-F6CA-AD8C-2622-32C4F5B23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6B4B6-374B-E739-C536-4FB881D3A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D670B-BE1F-0280-D3CF-F40A098B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E0578-B727-5C3C-E5B9-78B9F9F5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BBBCB-FCA8-11F7-D35D-A2E64BE8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85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2FE5A-6E50-E0BB-5C38-AA4D325B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5E381-5BA7-D355-F00B-B256A3DB5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F81A3-271B-AE3F-BE75-821125DBC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5E110-542C-481C-BD37-A2F89EB05A8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692DB-FD6C-7C06-001A-6BC41A6C3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F85A3-3BF3-1C3D-2F96-1329372A6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F4568-4941-40D0-B41E-2AC7C8C3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44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97141E-E1DA-B129-0B0B-91CEC3114B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1" b="24980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C34EB1-B314-C8D5-3D0A-AF93E285D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5100">
                <a:solidFill>
                  <a:schemeClr val="bg1"/>
                </a:solidFill>
              </a:rPr>
              <a:t>Parallel &amp; Distributed Computing</a:t>
            </a:r>
            <a:br>
              <a:rPr lang="en-US" sz="5100">
                <a:solidFill>
                  <a:schemeClr val="bg1"/>
                </a:solidFill>
              </a:rPr>
            </a:br>
            <a:br>
              <a:rPr lang="en-US" sz="5100">
                <a:solidFill>
                  <a:schemeClr val="bg1"/>
                </a:solidFill>
              </a:rPr>
            </a:br>
            <a:r>
              <a:rPr lang="en-US" sz="5100">
                <a:solidFill>
                  <a:schemeClr val="bg1"/>
                </a:solidFill>
              </a:rPr>
              <a:t>Lecture #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ACD80-5233-21E9-379B-B16028974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By, </a:t>
            </a:r>
          </a:p>
          <a:p>
            <a:r>
              <a:rPr lang="en-US">
                <a:solidFill>
                  <a:schemeClr val="bg1"/>
                </a:solidFill>
              </a:rPr>
              <a:t>Dr. Ali Akbar Siddique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98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5C844-A2D7-0F49-EAD5-D679C960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Parallel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218F7-7C73-A030-8FFF-089A95317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Topics Covered Today:</a:t>
            </a:r>
            <a:endParaRPr lang="en-US" sz="2000" dirty="0"/>
          </a:p>
          <a:p>
            <a:pPr marL="403225"/>
            <a:r>
              <a:rPr lang="en-US" sz="2000" dirty="0"/>
              <a:t>Parallel Search</a:t>
            </a:r>
          </a:p>
          <a:p>
            <a:pPr marL="403225"/>
            <a:r>
              <a:rPr lang="en-US" sz="2000" dirty="0"/>
              <a:t>Parallel Sorting</a:t>
            </a:r>
          </a:p>
          <a:p>
            <a:pPr marL="403225"/>
            <a:r>
              <a:rPr lang="en-US" sz="2000" dirty="0"/>
              <a:t>Reduction Algorithms</a:t>
            </a:r>
          </a:p>
          <a:p>
            <a:pPr marL="403225"/>
            <a:r>
              <a:rPr lang="en-US" sz="2000" dirty="0"/>
              <a:t>Hands-on: Parallel Merge Sort in Python</a:t>
            </a:r>
          </a:p>
          <a:p>
            <a:endParaRPr lang="en-US" sz="2000" dirty="0"/>
          </a:p>
        </p:txBody>
      </p:sp>
      <p:pic>
        <p:nvPicPr>
          <p:cNvPr id="5" name="Picture 4" descr="Vibrant multicolor checkered floor design">
            <a:extLst>
              <a:ext uri="{FF2B5EF4-FFF2-40B4-BE49-F238E27FC236}">
                <a16:creationId xmlns:a16="http://schemas.microsoft.com/office/drawing/2014/main" id="{E52E135D-5287-C083-8C60-267484E06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78" r="1995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B8723-EA74-43B1-1ADC-55C93F37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Are Parallel Algorithms?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A8A864-53AA-F4B2-7A49-DFC8C990A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84456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500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CD3AF-9432-8D2D-4EA8-AEB0570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6" y="350196"/>
            <a:ext cx="5755340" cy="162452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Why Use Parallel Algorithms?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6F5F-A755-A4C1-6D1A-FA3E1F239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6" y="2324912"/>
            <a:ext cx="5755340" cy="4533088"/>
          </a:xfrm>
        </p:spPr>
        <p:txBody>
          <a:bodyPr anchor="ctr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/>
              <a:t>Performance Improvement: </a:t>
            </a:r>
            <a:r>
              <a:rPr lang="en-US" sz="1900" dirty="0"/>
              <a:t>More work done in less time by using multiple processors concurrently.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/>
              <a:t>Scalability: </a:t>
            </a:r>
            <a:r>
              <a:rPr lang="en-US" sz="1900" dirty="0"/>
              <a:t>As data size grows, parallelism ensures performance does not degrade significantly.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/>
              <a:t>Resource Utilization: </a:t>
            </a:r>
            <a:r>
              <a:rPr lang="en-US" sz="1900" dirty="0"/>
              <a:t>Modern hardware (multi-core CPUs, GPUs, clusters) is designed for parallel workloads.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/>
              <a:t>Solve Larger Problems: </a:t>
            </a:r>
            <a:r>
              <a:rPr lang="en-US" sz="1900" dirty="0"/>
              <a:t>Some tasks are computationally expensive and only feasible using parallel techniques.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1D583C64-02C7-8606-2CBD-B681A43CF2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33" r="2396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3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3D6FB8-DD3E-7E93-8323-8FDE29727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634" y="643467"/>
            <a:ext cx="1032734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6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A0E5B-2F20-0874-9A93-F09EF2F3E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AA576-2FC5-AE70-8B7E-5E7F7B6B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Types of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F73B6-E309-C89E-0AA8-4F1EC3D21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" y="2447366"/>
            <a:ext cx="5755342" cy="406043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b="1" dirty="0"/>
              <a:t>Data Parallelism:</a:t>
            </a:r>
            <a:br>
              <a:rPr lang="en-US" sz="2400" dirty="0"/>
            </a:br>
            <a:r>
              <a:rPr lang="en-US" sz="2400" dirty="0"/>
              <a:t>Same operation applied on different chunks of data.</a:t>
            </a:r>
            <a:br>
              <a:rPr lang="en-US" sz="2400" dirty="0"/>
            </a:br>
            <a:r>
              <a:rPr lang="en-US" sz="2400" i="1" dirty="0"/>
              <a:t>Example:</a:t>
            </a:r>
            <a:r>
              <a:rPr lang="en-US" sz="2400" dirty="0"/>
              <a:t> splitting an array for parallel searching.</a:t>
            </a:r>
          </a:p>
          <a:p>
            <a:r>
              <a:rPr lang="en-US" sz="2400" b="1" dirty="0"/>
              <a:t>Task Parallelism:</a:t>
            </a:r>
            <a:br>
              <a:rPr lang="en-US" sz="2400" dirty="0"/>
            </a:br>
            <a:r>
              <a:rPr lang="en-US" sz="2400" dirty="0"/>
              <a:t>Different tasks run simultaneously (independent functions or steps).</a:t>
            </a:r>
            <a:br>
              <a:rPr lang="en-US" sz="2400" dirty="0"/>
            </a:br>
            <a:r>
              <a:rPr lang="en-US" sz="2400" i="1" dirty="0"/>
              <a:t>Example:</a:t>
            </a:r>
            <a:r>
              <a:rPr lang="en-US" sz="2400" dirty="0"/>
              <a:t> web servers handling multiple requests.</a:t>
            </a:r>
          </a:p>
          <a:p>
            <a:r>
              <a:rPr lang="en-US" sz="2400" b="1" dirty="0"/>
              <a:t>Hybrid Parallelism:</a:t>
            </a:r>
            <a:br>
              <a:rPr lang="en-US" sz="2400" dirty="0"/>
            </a:br>
            <a:r>
              <a:rPr lang="en-US" sz="2400" dirty="0"/>
              <a:t>Combination of both, common in HPC and deep learning.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C1AEA-787C-02CD-B379-D1F7693D7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5" r="18085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6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D12BA-2601-D7E9-9652-54D63A19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A4898-EC34-DBD4-B300-6DA33B51AF3A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Parallel Algorithms Work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DF076F-3844-3F31-F432-24F67C800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365" y="34501"/>
            <a:ext cx="4504764" cy="674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918E5-090C-44C5-720E-0DF606E93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A960E-D976-370B-F407-FEC8D256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777" y="201706"/>
            <a:ext cx="5027240" cy="1716255"/>
          </a:xfrm>
        </p:spPr>
        <p:txBody>
          <a:bodyPr anchor="b">
            <a:normAutofit/>
          </a:bodyPr>
          <a:lstStyle/>
          <a:p>
            <a:r>
              <a:rPr lang="en-US" sz="5200" dirty="0"/>
              <a:t>What is Parallel Search?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DE9B426B-10BB-38BF-5212-2974694C7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143" y="818188"/>
            <a:ext cx="5221625" cy="5221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FDFE4-4E9D-9DD9-0B40-EAD5C512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9777" y="2339788"/>
            <a:ext cx="5027240" cy="4316506"/>
          </a:xfrm>
        </p:spPr>
        <p:txBody>
          <a:bodyPr anchor="t">
            <a:normAutofit fontScale="92500"/>
          </a:bodyPr>
          <a:lstStyle/>
          <a:p>
            <a:pPr algn="just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Parallel search refers to techniques that allow searching through large datasets by </a:t>
            </a: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dividing the data into multiple segments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and searching those segments </a:t>
            </a: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simultaneously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using multiple processors or threads.</a:t>
            </a:r>
          </a:p>
          <a:p>
            <a:pPr algn="just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The goal is to reduce the search time by leveraging hardware parallelism.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478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9FD6B-B900-3949-F297-FF16FC64E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3B05376-AD8E-E7A1-E32A-D440ADDECD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4CDAA-F94A-AE89-5FC9-7A56F02E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dirty="0"/>
              <a:t>Why Parallelize Search?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2A59D-2595-F0D9-25FF-38EA2162B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7765" y="1761565"/>
            <a:ext cx="6279776" cy="497541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Searching is one of the most common operations in computing. For extremely large datasets (millions or billions of elements), sequential search becomes slow.</a:t>
            </a:r>
          </a:p>
          <a:p>
            <a:pPr marL="0" indent="0">
              <a:buNone/>
            </a:pPr>
            <a:r>
              <a:rPr lang="en-US" sz="1800" dirty="0"/>
              <a:t>Parallel search helps because:</a:t>
            </a:r>
          </a:p>
          <a:p>
            <a:r>
              <a:rPr lang="en-US" sz="1800" b="1" dirty="0"/>
              <a:t>Data is divisible:</a:t>
            </a:r>
            <a:br>
              <a:rPr lang="en-US" sz="1800" dirty="0"/>
            </a:br>
            <a:r>
              <a:rPr lang="en-US" sz="1800" dirty="0"/>
              <a:t>Arrays, lists, and databases can be partitioned easily.</a:t>
            </a:r>
          </a:p>
          <a:p>
            <a:r>
              <a:rPr lang="en-US" sz="1800" b="1" dirty="0"/>
              <a:t>Multiple processors can work independently:</a:t>
            </a:r>
            <a:br>
              <a:rPr lang="en-US" sz="1800" dirty="0"/>
            </a:br>
            <a:r>
              <a:rPr lang="en-US" sz="1800" dirty="0"/>
              <a:t>Each processor searches a chunk of the data without interfering with others.</a:t>
            </a:r>
          </a:p>
          <a:p>
            <a:r>
              <a:rPr lang="en-US" sz="1800" b="1" dirty="0"/>
              <a:t>Reduced latency:</a:t>
            </a:r>
            <a:br>
              <a:rPr lang="en-US" sz="1800" dirty="0"/>
            </a:br>
            <a:r>
              <a:rPr lang="en-US" sz="1800" dirty="0"/>
              <a:t>Overall search time depends on </a:t>
            </a:r>
            <a:r>
              <a:rPr lang="en-US" sz="1800" i="1" dirty="0"/>
              <a:t>how quickly any one processor finds the element</a:t>
            </a:r>
            <a:r>
              <a:rPr lang="en-US" sz="1800" dirty="0"/>
              <a:t>.</a:t>
            </a:r>
          </a:p>
          <a:p>
            <a:r>
              <a:rPr lang="en-US" sz="1800" b="1" dirty="0"/>
              <a:t>Ideal for large-scale data applications:</a:t>
            </a:r>
            <a:br>
              <a:rPr lang="en-US" sz="1800" dirty="0"/>
            </a:br>
            <a:r>
              <a:rPr lang="en-US" sz="1800" dirty="0"/>
              <a:t>Used in databases, search engines, bioinformatics, and scientific computing.</a:t>
            </a:r>
          </a:p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82645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78B37-6D0B-B701-24B5-F45C9C707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A992F-D58F-7E5B-F77B-83FA8B86F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Parallel Search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EF0CE-CEE1-BEC7-2DEF-771093D04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 Document (Search Techneques.docx)</a:t>
            </a:r>
          </a:p>
        </p:txBody>
      </p:sp>
    </p:spTree>
    <p:extLst>
      <p:ext uri="{BB962C8B-B14F-4D97-AF65-F5344CB8AC3E}">
        <p14:creationId xmlns:p14="http://schemas.microsoft.com/office/powerpoint/2010/main" val="404915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EBE00-04C7-0785-2E17-D9ACC92C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391245"/>
            <a:ext cx="5334197" cy="1250576"/>
          </a:xfrm>
        </p:spPr>
        <p:txBody>
          <a:bodyPr anchor="ctr">
            <a:normAutofit/>
          </a:bodyPr>
          <a:lstStyle/>
          <a:p>
            <a:r>
              <a:rPr lang="en-US" sz="4000" dirty="0"/>
              <a:t>Parallel 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2B068-AB37-7C69-1DE9-3BAD5C013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1021976"/>
            <a:ext cx="5334197" cy="5218103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/>
              <a:t>Parallel Linear Search divides the array among multiple processors/threads.</a:t>
            </a:r>
          </a:p>
          <a:p>
            <a:pPr algn="just"/>
            <a:r>
              <a:rPr lang="en-US" dirty="0"/>
              <a:t>Each processor searches its own sub-array </a:t>
            </a:r>
            <a:r>
              <a:rPr lang="en-US" b="1" dirty="0"/>
              <a:t>simultaneously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If any processor finds the target, it signals the others to stop.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FF4759AE-FB95-A4B3-5D28-60D7150FD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99" r="3387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724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B0BD-D2AC-DCB2-3F50-E279628B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CB57-CD3F-5216-D33C-7D8A1004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59F76-9B5A-F93C-2501-CC5F8E53B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for the value </a:t>
            </a:r>
            <a:r>
              <a:rPr lang="en-US" b="1" dirty="0"/>
              <a:t>45</a:t>
            </a:r>
            <a:r>
              <a:rPr lang="en-US" dirty="0"/>
              <a:t> in the following array using </a:t>
            </a:r>
            <a:r>
              <a:rPr lang="en-US" b="1" dirty="0"/>
              <a:t>4 processors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Array A = [12, 7, 45, 23, 56, 89, 14, 32]</a:t>
            </a:r>
          </a:p>
          <a:p>
            <a:r>
              <a:rPr lang="en-US" b="1" dirty="0"/>
              <a:t>Step 1 — Partition the array equally</a:t>
            </a:r>
          </a:p>
          <a:p>
            <a:pPr marL="0" indent="0">
              <a:buNone/>
            </a:pPr>
            <a:r>
              <a:rPr lang="en-US" dirty="0"/>
              <a:t>    8 elements, 4 processors → each gets </a:t>
            </a:r>
            <a:r>
              <a:rPr lang="en-US" b="1" dirty="0"/>
              <a:t>2 elements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094416-28FB-F1C5-0ECA-8FCEBB438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45563"/>
              </p:ext>
            </p:extLst>
          </p:nvPr>
        </p:nvGraphicFramePr>
        <p:xfrm>
          <a:off x="1250575" y="4001294"/>
          <a:ext cx="7597590" cy="192024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798795">
                  <a:extLst>
                    <a:ext uri="{9D8B030D-6E8A-4147-A177-3AD203B41FA5}">
                      <a16:colId xmlns:a16="http://schemas.microsoft.com/office/drawing/2014/main" val="2421435010"/>
                    </a:ext>
                  </a:extLst>
                </a:gridCol>
                <a:gridCol w="3798795">
                  <a:extLst>
                    <a:ext uri="{9D8B030D-6E8A-4147-A177-3AD203B41FA5}">
                      <a16:colId xmlns:a16="http://schemas.microsoft.com/office/drawing/2014/main" val="2715394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Elements Assigned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494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12, 7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105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45, 23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532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56, 89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397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14, 32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610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354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DCC89-8E86-0FA7-0AF6-AABDDD4BC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ACEA-AC09-8286-588A-61A644AA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DC3DF-0D94-81F1-4B71-BC429CDEF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 — Processors search in parallel</a:t>
            </a:r>
          </a:p>
          <a:p>
            <a:pPr marL="0" indent="0">
              <a:buNone/>
            </a:pPr>
            <a:r>
              <a:rPr lang="en-US" b="1" dirty="0"/>
              <a:t>P0</a:t>
            </a:r>
            <a:r>
              <a:rPr lang="en-US" dirty="0"/>
              <a:t> → checks 12, 7 → </a:t>
            </a:r>
            <a:r>
              <a:rPr lang="en-US" i="1" dirty="0"/>
              <a:t>not found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P1</a:t>
            </a:r>
            <a:r>
              <a:rPr lang="en-US" dirty="0"/>
              <a:t> → checks 45 → 🎉 </a:t>
            </a:r>
            <a:r>
              <a:rPr lang="en-US" b="1" dirty="0"/>
              <a:t>found at global index 2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P2</a:t>
            </a:r>
            <a:r>
              <a:rPr lang="en-US" dirty="0"/>
              <a:t> → would check 56, 89 but gets cancel signal</a:t>
            </a:r>
          </a:p>
          <a:p>
            <a:pPr marL="0" indent="0">
              <a:buNone/>
            </a:pPr>
            <a:r>
              <a:rPr lang="en-US" b="1" dirty="0"/>
              <a:t>P3</a:t>
            </a:r>
            <a:r>
              <a:rPr lang="en-US" dirty="0"/>
              <a:t> → stops early because result found</a:t>
            </a:r>
          </a:p>
          <a:p>
            <a:r>
              <a:rPr lang="en-US" b="1" dirty="0"/>
              <a:t>Step 3 — Result returned</a:t>
            </a:r>
          </a:p>
          <a:p>
            <a:pPr marL="0" indent="0">
              <a:buNone/>
            </a:pPr>
            <a:r>
              <a:rPr lang="en-US" dirty="0"/>
              <a:t>Target </a:t>
            </a:r>
            <a:r>
              <a:rPr lang="en-US" b="1" dirty="0"/>
              <a:t>45 found at index 2</a:t>
            </a:r>
            <a:br>
              <a:rPr lang="en-US" dirty="0"/>
            </a:br>
            <a:r>
              <a:rPr lang="en-US" dirty="0"/>
              <a:t>Speedup achieved by parallelism since not all processors needed to finish.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72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E6CB-2FEC-627B-D8A2-36B06D520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D72F-BD2F-7742-3978-744A60935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7D708-740C-0930-7D8F-821C3E14F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named (Parallel Linear Search.docx)</a:t>
            </a:r>
          </a:p>
          <a:p>
            <a:r>
              <a:rPr lang="en-US" dirty="0"/>
              <a:t>File named (Parallel Linear Search (Code with reasoning).docx)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952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DBA8-D503-CB43-6774-6839D51E2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457-DCFE-6CFA-5AF5-612047AD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Parallel Sorting?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AAE83-1E50-F5A8-9686-52B6C51D9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Parallel sorting refers to a family of algorithms that sort data by </a:t>
            </a:r>
            <a:r>
              <a:rPr lang="en-US" b="1" dirty="0"/>
              <a:t>dividing the input array into smaller subarrays</a:t>
            </a:r>
            <a:r>
              <a:rPr lang="en-US" dirty="0"/>
              <a:t>, sorting these parts </a:t>
            </a:r>
            <a:r>
              <a:rPr lang="en-US" b="1" dirty="0"/>
              <a:t>simultaneously</a:t>
            </a:r>
            <a:r>
              <a:rPr lang="en-US" dirty="0"/>
              <a:t> on multiple processors, and then </a:t>
            </a:r>
            <a:r>
              <a:rPr lang="en-US" b="1" dirty="0"/>
              <a:t>merging or combining</a:t>
            </a:r>
            <a:r>
              <a:rPr lang="en-US" dirty="0"/>
              <a:t> the results.</a:t>
            </a:r>
          </a:p>
          <a:p>
            <a:pPr algn="just"/>
            <a:r>
              <a:rPr lang="en-US" dirty="0"/>
              <a:t>Sorting is one of the most commonly parallelized tasks because it is a fundamental operation in computing and is frequently applied to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4046635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F4CC-0937-2845-40B6-B26DDBD82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D0539-2168-0D16-28C5-AF59306E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Parallelize Sorting?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3C62D-66AD-BFE0-0151-B6D34D128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named (Why Parallelize Sorting.docx)</a:t>
            </a:r>
          </a:p>
          <a:p>
            <a:r>
              <a:rPr lang="en-US" dirty="0"/>
              <a:t>File named (sorting Numerical.docx)</a:t>
            </a:r>
          </a:p>
        </p:txBody>
      </p:sp>
    </p:spTree>
    <p:extLst>
      <p:ext uri="{BB962C8B-B14F-4D97-AF65-F5344CB8AC3E}">
        <p14:creationId xmlns:p14="http://schemas.microsoft.com/office/powerpoint/2010/main" val="369898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694</Words>
  <Application>Microsoft Office PowerPoint</Application>
  <PresentationFormat>Widescreen</PresentationFormat>
  <Paragraphs>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Parallel &amp; Distributed Computing  Lecture # 8</vt:lpstr>
      <vt:lpstr>Parallel Algorithms</vt:lpstr>
      <vt:lpstr>What Are Parallel Algorithms?</vt:lpstr>
      <vt:lpstr>Why Use Parallel Algorithms?</vt:lpstr>
      <vt:lpstr>PowerPoint Presentation</vt:lpstr>
      <vt:lpstr>Types of Parallelism</vt:lpstr>
      <vt:lpstr>PowerPoint Presentation</vt:lpstr>
      <vt:lpstr>What is Parallel Search?</vt:lpstr>
      <vt:lpstr>Why Parallelize Search?</vt:lpstr>
      <vt:lpstr>Parallel Search Approaches</vt:lpstr>
      <vt:lpstr>Parallel Linear Search</vt:lpstr>
      <vt:lpstr>Example</vt:lpstr>
      <vt:lpstr>Example: (Cont.)</vt:lpstr>
      <vt:lpstr>Numerical Problem</vt:lpstr>
      <vt:lpstr>What is Parallel Sorting?</vt:lpstr>
      <vt:lpstr>Why Parallelize Sorting?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Akbar</dc:creator>
  <cp:lastModifiedBy>Ali Akbar</cp:lastModifiedBy>
  <cp:revision>1</cp:revision>
  <dcterms:created xsi:type="dcterms:W3CDTF">2025-12-15T09:54:52Z</dcterms:created>
  <dcterms:modified xsi:type="dcterms:W3CDTF">2025-12-15T10:54:48Z</dcterms:modified>
</cp:coreProperties>
</file>