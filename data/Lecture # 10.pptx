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>
      <p:cViewPr>
        <p:scale>
          <a:sx n="50" d="100"/>
          <a:sy n="50" d="100"/>
        </p:scale>
        <p:origin x="2016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986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089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360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439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5/27/2025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372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5/27/2025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409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5/27/2025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184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309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427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914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6851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7278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Low Angle View Of Clouds In Sky">
            <a:extLst>
              <a:ext uri="{FF2B5EF4-FFF2-40B4-BE49-F238E27FC236}">
                <a16:creationId xmlns:a16="http://schemas.microsoft.com/office/drawing/2014/main" id="{64D2518E-12F3-BCA0-8A02-A060979559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320" b="8411"/>
          <a:stretch>
            <a:fillRect/>
          </a:stretch>
        </p:blipFill>
        <p:spPr>
          <a:xfrm>
            <a:off x="1" y="10"/>
            <a:ext cx="12192000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6136311-C81B-47C5-AE0A-5641A5A595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24436" y="1066800"/>
            <a:ext cx="4389120" cy="47244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E0B8BE-DC40-2091-CF51-708DBDB77D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0487" y="1562101"/>
            <a:ext cx="3551402" cy="2738530"/>
          </a:xfrm>
        </p:spPr>
        <p:txBody>
          <a:bodyPr anchor="t">
            <a:normAutofit/>
          </a:bodyPr>
          <a:lstStyle/>
          <a:p>
            <a:r>
              <a:rPr lang="en-US" sz="4800" dirty="0"/>
              <a:t>Parallel &amp; Distributed Computing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F51EC8-64C4-30B0-A191-D272F982BC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0487" y="4358566"/>
            <a:ext cx="3579790" cy="875824"/>
          </a:xfrm>
        </p:spPr>
        <p:txBody>
          <a:bodyPr>
            <a:normAutofit fontScale="92500"/>
          </a:bodyPr>
          <a:lstStyle/>
          <a:p>
            <a:r>
              <a:rPr lang="en-US" dirty="0"/>
              <a:t>By, </a:t>
            </a:r>
          </a:p>
          <a:p>
            <a:r>
              <a:rPr lang="en-US" dirty="0"/>
              <a:t>Dr. Ali Akbar Siddique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CC73A33-65FF-41A9-A3B0-006753CD1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324436" y="5780876"/>
            <a:ext cx="438912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7197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62BE9C-7622-CB39-1D0A-1014BC1CB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anchor="t">
            <a:normAutofit/>
          </a:bodyPr>
          <a:lstStyle/>
          <a:p>
            <a:r>
              <a:rPr lang="en-US" b="1" dirty="0"/>
              <a:t>Introduction to Distributed Storage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CE47E-345B-5B5F-F278-9EBF2C5754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5150" y="2256287"/>
            <a:ext cx="4563618" cy="3760459"/>
          </a:xfrm>
        </p:spPr>
        <p:txBody>
          <a:bodyPr anchor="t">
            <a:normAutofit/>
          </a:bodyPr>
          <a:lstStyle/>
          <a:p>
            <a:pPr algn="just"/>
            <a:r>
              <a:rPr lang="en-US" dirty="0"/>
              <a:t>Distributed storage systems store, manage, and access data across multiple networked nodes or machines, making them fundamental to modern large-scale computing environments.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BFF1758-EFF0-0E58-9BAD-4C66DC0067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0695725"/>
              </p:ext>
            </p:extLst>
          </p:nvPr>
        </p:nvGraphicFramePr>
        <p:xfrm>
          <a:off x="713232" y="2256287"/>
          <a:ext cx="5648194" cy="3404346"/>
        </p:xfrm>
        <a:graphic>
          <a:graphicData uri="http://schemas.openxmlformats.org/drawingml/2006/table">
            <a:tbl>
              <a:tblPr firstRow="1" bandRow="1"/>
              <a:tblGrid>
                <a:gridCol w="2052078">
                  <a:extLst>
                    <a:ext uri="{9D8B030D-6E8A-4147-A177-3AD203B41FA5}">
                      <a16:colId xmlns:a16="http://schemas.microsoft.com/office/drawing/2014/main" val="3488455884"/>
                    </a:ext>
                  </a:extLst>
                </a:gridCol>
                <a:gridCol w="3596116">
                  <a:extLst>
                    <a:ext uri="{9D8B030D-6E8A-4147-A177-3AD203B41FA5}">
                      <a16:colId xmlns:a16="http://schemas.microsoft.com/office/drawing/2014/main" val="1828562929"/>
                    </a:ext>
                  </a:extLst>
                </a:gridCol>
              </a:tblGrid>
              <a:tr h="440562">
                <a:tc>
                  <a:txBody>
                    <a:bodyPr/>
                    <a:lstStyle/>
                    <a:p>
                      <a:pPr algn="ctr"/>
                      <a:r>
                        <a:rPr lang="en-US" sz="1800" b="1"/>
                        <a:t>Challenge</a:t>
                      </a:r>
                    </a:p>
                  </a:txBody>
                  <a:tcPr marL="89654" marR="89654" marT="44827" marB="448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/>
                        <a:t>Why Distributed Storage Helps</a:t>
                      </a:r>
                    </a:p>
                  </a:txBody>
                  <a:tcPr marL="89654" marR="89654" marT="44827" marB="448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919557"/>
                  </a:ext>
                </a:extLst>
              </a:tr>
              <a:tr h="740946">
                <a:tc>
                  <a:txBody>
                    <a:bodyPr/>
                    <a:lstStyle/>
                    <a:p>
                      <a:r>
                        <a:rPr lang="en-US" sz="1800" b="1"/>
                        <a:t>Scalability</a:t>
                      </a:r>
                      <a:endParaRPr lang="en-US" sz="1800"/>
                    </a:p>
                  </a:txBody>
                  <a:tcPr marL="89654" marR="89654" marT="44827" marB="448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Easily adds more storage nodes as data grows.</a:t>
                      </a:r>
                    </a:p>
                  </a:txBody>
                  <a:tcPr marL="89654" marR="89654" marT="44827" marB="448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4527065"/>
                  </a:ext>
                </a:extLst>
              </a:tr>
              <a:tr h="740946">
                <a:tc>
                  <a:txBody>
                    <a:bodyPr/>
                    <a:lstStyle/>
                    <a:p>
                      <a:r>
                        <a:rPr lang="en-US" sz="1800" b="1"/>
                        <a:t>Fault Tolerance</a:t>
                      </a:r>
                      <a:endParaRPr lang="en-US" sz="1800"/>
                    </a:p>
                  </a:txBody>
                  <a:tcPr marL="89654" marR="89654" marT="44827" marB="448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Redundancy ensures system reliability even if some nodes fail.</a:t>
                      </a:r>
                    </a:p>
                  </a:txBody>
                  <a:tcPr marL="89654" marR="89654" marT="44827" marB="448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1024301"/>
                  </a:ext>
                </a:extLst>
              </a:tr>
              <a:tr h="740946">
                <a:tc>
                  <a:txBody>
                    <a:bodyPr/>
                    <a:lstStyle/>
                    <a:p>
                      <a:r>
                        <a:rPr lang="en-US" sz="1800" b="1"/>
                        <a:t>High Availability</a:t>
                      </a:r>
                      <a:endParaRPr lang="en-US" sz="1800"/>
                    </a:p>
                  </a:txBody>
                  <a:tcPr marL="89654" marR="89654" marT="44827" marB="448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Data is accessible even during partial system failures.</a:t>
                      </a:r>
                    </a:p>
                  </a:txBody>
                  <a:tcPr marL="89654" marR="89654" marT="44827" marB="448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6691892"/>
                  </a:ext>
                </a:extLst>
              </a:tr>
              <a:tr h="740946">
                <a:tc>
                  <a:txBody>
                    <a:bodyPr/>
                    <a:lstStyle/>
                    <a:p>
                      <a:r>
                        <a:rPr lang="en-US" sz="1800" b="1"/>
                        <a:t>Performance</a:t>
                      </a:r>
                      <a:endParaRPr lang="en-US" sz="1800"/>
                    </a:p>
                  </a:txBody>
                  <a:tcPr marL="89654" marR="89654" marT="44827" marB="448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Parallel access and storage improve I/O throughput.</a:t>
                      </a:r>
                    </a:p>
                  </a:txBody>
                  <a:tcPr marL="89654" marR="89654" marT="44827" marB="448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46358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9301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B50F93-B595-AD7B-FF1E-9CBF4DC91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anchor="t">
            <a:normAutofit/>
          </a:bodyPr>
          <a:lstStyle/>
          <a:p>
            <a:r>
              <a:rPr lang="en-US" dirty="0"/>
              <a:t>Example Use Cases</a:t>
            </a:r>
          </a:p>
        </p:txBody>
      </p:sp>
      <p:pic>
        <p:nvPicPr>
          <p:cNvPr id="8" name="Graphic 7" descr="Database">
            <a:extLst>
              <a:ext uri="{FF2B5EF4-FFF2-40B4-BE49-F238E27FC236}">
                <a16:creationId xmlns:a16="http://schemas.microsoft.com/office/drawing/2014/main" id="{7771C7C1-C5F5-6EDA-CE10-F3DFE45FCE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3232" y="2256287"/>
            <a:ext cx="3760459" cy="3760459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D3EEA56C-F502-BF09-3788-317B9A5BBC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724400" y="2800354"/>
            <a:ext cx="6754368" cy="321639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algn="just" eaLnBrk="0" fontAlgn="base" hangingPunct="0"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Big Data Processing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Hadoop, Spark</a:t>
            </a:r>
          </a:p>
          <a:p>
            <a:pPr algn="just" eaLnBrk="0" fontAlgn="base" hangingPunct="0"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Cloud Services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Google Cloud Storage, AWS S3</a:t>
            </a:r>
          </a:p>
          <a:p>
            <a:pPr algn="just" eaLnBrk="0" fontAlgn="base" hangingPunct="0"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Scientific Computing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CERN, NASA data grids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4609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79" name="Straight Connector 307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081" name="Rectangle 3080">
            <a:extLst>
              <a:ext uri="{FF2B5EF4-FFF2-40B4-BE49-F238E27FC236}">
                <a16:creationId xmlns:a16="http://schemas.microsoft.com/office/drawing/2014/main" id="{149F9F0F-FB8C-5565-247C-BDCC156B5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83" name="Rectangle 3082">
            <a:extLst>
              <a:ext uri="{FF2B5EF4-FFF2-40B4-BE49-F238E27FC236}">
                <a16:creationId xmlns:a16="http://schemas.microsoft.com/office/drawing/2014/main" id="{ABA4FDDF-F59C-428B-8603-3A86D7593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An object-based storage architecture comprising multiple OSD clusters,... |  Download Scientific Diagram">
            <a:extLst>
              <a:ext uri="{FF2B5EF4-FFF2-40B4-BE49-F238E27FC236}">
                <a16:creationId xmlns:a16="http://schemas.microsoft.com/office/drawing/2014/main" id="{9F95069B-2B61-216A-C99B-15DC07A0EFE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75" r="3" b="3"/>
          <a:stretch>
            <a:fillRect/>
          </a:stretch>
        </p:blipFill>
        <p:spPr bwMode="auto">
          <a:xfrm>
            <a:off x="1" y="1"/>
            <a:ext cx="12192000" cy="6857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3357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AE4693-AB29-EC9A-9A40-6E2E5046C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9126" y="979051"/>
            <a:ext cx="2811879" cy="1807048"/>
          </a:xfrm>
        </p:spPr>
        <p:txBody>
          <a:bodyPr anchor="b">
            <a:normAutofit/>
          </a:bodyPr>
          <a:lstStyle/>
          <a:p>
            <a:r>
              <a:rPr lang="en-US" sz="3600"/>
              <a:t>Distributed File System (DFS)</a:t>
            </a:r>
          </a:p>
        </p:txBody>
      </p:sp>
      <p:pic>
        <p:nvPicPr>
          <p:cNvPr id="5" name="Picture 4" descr="Illuminated server room panel">
            <a:extLst>
              <a:ext uri="{FF2B5EF4-FFF2-40B4-BE49-F238E27FC236}">
                <a16:creationId xmlns:a16="http://schemas.microsoft.com/office/drawing/2014/main" id="{55FA5685-691D-E704-A789-5C3B419B16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624" b="-1"/>
          <a:stretch>
            <a:fillRect/>
          </a:stretch>
        </p:blipFill>
        <p:spPr>
          <a:xfrm>
            <a:off x="20" y="535709"/>
            <a:ext cx="8229580" cy="582064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2C7985C-B0C3-CC50-E86A-B5EBA40E01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-1" y="6359240"/>
            <a:ext cx="822960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299E2C-CA87-9301-516B-4096C695E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19128" y="2922624"/>
            <a:ext cx="2811880" cy="3409950"/>
          </a:xfrm>
        </p:spPr>
        <p:txBody>
          <a:bodyPr anchor="t">
            <a:normAutofit/>
          </a:bodyPr>
          <a:lstStyle/>
          <a:p>
            <a:pPr algn="just"/>
            <a:r>
              <a:rPr lang="en-US" dirty="0"/>
              <a:t>A </a:t>
            </a:r>
            <a:r>
              <a:rPr lang="en-US" b="1" dirty="0"/>
              <a:t>Distributed File System (DFS)</a:t>
            </a:r>
            <a:r>
              <a:rPr lang="en-US" dirty="0"/>
              <a:t> is a file system that </a:t>
            </a:r>
            <a:r>
              <a:rPr lang="en-US" b="1" dirty="0"/>
              <a:t>allows access to files stored across multiple machines</a:t>
            </a:r>
            <a:r>
              <a:rPr lang="en-US" dirty="0"/>
              <a:t> as if they were on a single local disk.</a:t>
            </a:r>
          </a:p>
        </p:txBody>
      </p:sp>
    </p:spTree>
    <p:extLst>
      <p:ext uri="{BB962C8B-B14F-4D97-AF65-F5344CB8AC3E}">
        <p14:creationId xmlns:p14="http://schemas.microsoft.com/office/powerpoint/2010/main" val="1642390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7AA9E3-8CA3-428E-0CFD-CE4B250EA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6821" y="1371600"/>
            <a:ext cx="6034187" cy="1097280"/>
          </a:xfrm>
        </p:spPr>
        <p:txBody>
          <a:bodyPr>
            <a:normAutofit/>
          </a:bodyPr>
          <a:lstStyle/>
          <a:p>
            <a:r>
              <a:rPr lang="en-US" dirty="0"/>
              <a:t>Core Functions of DFS</a:t>
            </a:r>
          </a:p>
        </p:txBody>
      </p:sp>
      <p:pic>
        <p:nvPicPr>
          <p:cNvPr id="6" name="Picture 5" descr="A 3D pattern of ring shapes connected by lines">
            <a:extLst>
              <a:ext uri="{FF2B5EF4-FFF2-40B4-BE49-F238E27FC236}">
                <a16:creationId xmlns:a16="http://schemas.microsoft.com/office/drawing/2014/main" id="{EB67E352-E856-02B4-D998-26A0572A1B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716" r="46439"/>
          <a:stretch>
            <a:fillRect/>
          </a:stretch>
        </p:blipFill>
        <p:spPr>
          <a:xfrm>
            <a:off x="20" y="10"/>
            <a:ext cx="4857871" cy="685799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91422F5-4221-4812-AFD9-5479C6D60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80905" y="1031005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DD157DBE-3473-1358-0239-C49136D024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96821" y="2633236"/>
            <a:ext cx="6034187" cy="36646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algn="just" eaLnBrk="0" fontAlgn="base" hangingPunct="0"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Storage Abstraction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Hides the complexity of storage spread across many machines.</a:t>
            </a:r>
          </a:p>
          <a:p>
            <a:pPr algn="just" eaLnBrk="0" fontAlgn="base" hangingPunct="0"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Metadata Management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Keeps track of file names, directories, permissions, and locations.</a:t>
            </a:r>
          </a:p>
          <a:p>
            <a:pPr algn="just" eaLnBrk="0" fontAlgn="base" hangingPunct="0"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Fault Tolerance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Replicates data to prevent data loss in case of node failure.</a:t>
            </a:r>
          </a:p>
          <a:p>
            <a:pPr algn="just" eaLnBrk="0" fontAlgn="base" hangingPunct="0"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Scalability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Easily grows by adding more nodes without service disruption.</a:t>
            </a:r>
          </a:p>
        </p:txBody>
      </p:sp>
    </p:spTree>
    <p:extLst>
      <p:ext uri="{BB962C8B-B14F-4D97-AF65-F5344CB8AC3E}">
        <p14:creationId xmlns:p14="http://schemas.microsoft.com/office/powerpoint/2010/main" val="844024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388EF1-191B-795C-8D1F-9025E576E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021842"/>
            <a:ext cx="3156857" cy="26426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/>
              <a:t>Design Principles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50527CE-FCD0-40C8-B37A-39331C2A4F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011930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FA2FCF-C56F-899D-CFA8-2C8332C6D4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0114928"/>
              </p:ext>
            </p:extLst>
          </p:nvPr>
        </p:nvGraphicFramePr>
        <p:xfrm>
          <a:off x="4133850" y="628651"/>
          <a:ext cx="7347081" cy="5829296"/>
        </p:xfrm>
        <a:graphic>
          <a:graphicData uri="http://schemas.openxmlformats.org/drawingml/2006/table">
            <a:tbl>
              <a:tblPr/>
              <a:tblGrid>
                <a:gridCol w="2857353">
                  <a:extLst>
                    <a:ext uri="{9D8B030D-6E8A-4147-A177-3AD203B41FA5}">
                      <a16:colId xmlns:a16="http://schemas.microsoft.com/office/drawing/2014/main" val="1687844282"/>
                    </a:ext>
                  </a:extLst>
                </a:gridCol>
                <a:gridCol w="4489728">
                  <a:extLst>
                    <a:ext uri="{9D8B030D-6E8A-4147-A177-3AD203B41FA5}">
                      <a16:colId xmlns:a16="http://schemas.microsoft.com/office/drawing/2014/main" val="505908002"/>
                    </a:ext>
                  </a:extLst>
                </a:gridCol>
              </a:tblGrid>
              <a:tr h="539538"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/>
                        <a:t>Principle</a:t>
                      </a:r>
                    </a:p>
                  </a:txBody>
                  <a:tcPr marL="94017" marR="94017" marT="47008" marB="47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/>
                        <a:t>Explanation</a:t>
                      </a:r>
                    </a:p>
                  </a:txBody>
                  <a:tcPr marL="94017" marR="94017" marT="47008" marB="47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3413925"/>
                  </a:ext>
                </a:extLst>
              </a:tr>
              <a:tr h="978605">
                <a:tc>
                  <a:txBody>
                    <a:bodyPr/>
                    <a:lstStyle/>
                    <a:p>
                      <a:pPr algn="just"/>
                      <a:r>
                        <a:rPr lang="en-US" sz="1900" b="1" dirty="0"/>
                        <a:t>Transparency</a:t>
                      </a:r>
                      <a:endParaRPr lang="en-US" sz="1900" dirty="0"/>
                    </a:p>
                  </a:txBody>
                  <a:tcPr marL="94017" marR="94017" marT="47008" marB="47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900"/>
                        <a:t>Users don’t need to know where files reside.</a:t>
                      </a:r>
                    </a:p>
                  </a:txBody>
                  <a:tcPr marL="94017" marR="94017" marT="47008" marB="47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1389835"/>
                  </a:ext>
                </a:extLst>
              </a:tr>
              <a:tr h="978605">
                <a:tc>
                  <a:txBody>
                    <a:bodyPr/>
                    <a:lstStyle/>
                    <a:p>
                      <a:pPr algn="just"/>
                      <a:r>
                        <a:rPr lang="en-US" sz="1900" b="1" dirty="0"/>
                        <a:t>Scalability</a:t>
                      </a:r>
                      <a:endParaRPr lang="en-US" sz="1900" dirty="0"/>
                    </a:p>
                  </a:txBody>
                  <a:tcPr marL="94017" marR="94017" marT="47008" marB="47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900"/>
                        <a:t>Handles increasing numbers of users and large datasets efficiently.</a:t>
                      </a:r>
                    </a:p>
                  </a:txBody>
                  <a:tcPr marL="94017" marR="94017" marT="47008" marB="47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1053010"/>
                  </a:ext>
                </a:extLst>
              </a:tr>
              <a:tr h="978605">
                <a:tc>
                  <a:txBody>
                    <a:bodyPr/>
                    <a:lstStyle/>
                    <a:p>
                      <a:pPr algn="just"/>
                      <a:r>
                        <a:rPr lang="en-US" sz="1900" b="1"/>
                        <a:t>Reliability</a:t>
                      </a:r>
                      <a:endParaRPr lang="en-US" sz="1900"/>
                    </a:p>
                  </a:txBody>
                  <a:tcPr marL="94017" marR="94017" marT="47008" marB="47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900" dirty="0"/>
                        <a:t>Continues operation in the event of hardware or network failure.</a:t>
                      </a:r>
                    </a:p>
                  </a:txBody>
                  <a:tcPr marL="94017" marR="94017" marT="47008" marB="47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7033112"/>
                  </a:ext>
                </a:extLst>
              </a:tr>
              <a:tr h="1375338">
                <a:tc>
                  <a:txBody>
                    <a:bodyPr/>
                    <a:lstStyle/>
                    <a:p>
                      <a:pPr algn="just"/>
                      <a:r>
                        <a:rPr lang="en-US" sz="1900" b="1"/>
                        <a:t>Consistency</a:t>
                      </a:r>
                      <a:endParaRPr lang="en-US" sz="1900"/>
                    </a:p>
                  </a:txBody>
                  <a:tcPr marL="94017" marR="94017" marT="47008" marB="47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900" dirty="0"/>
                        <a:t>Ensures file contents remain synchronized across replicas or versions.</a:t>
                      </a:r>
                    </a:p>
                  </a:txBody>
                  <a:tcPr marL="94017" marR="94017" marT="47008" marB="47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218203"/>
                  </a:ext>
                </a:extLst>
              </a:tr>
              <a:tr h="978605">
                <a:tc>
                  <a:txBody>
                    <a:bodyPr/>
                    <a:lstStyle/>
                    <a:p>
                      <a:pPr algn="just"/>
                      <a:r>
                        <a:rPr lang="en-US" sz="1900" b="1"/>
                        <a:t>Concurrency Control</a:t>
                      </a:r>
                      <a:endParaRPr lang="en-US" sz="1900"/>
                    </a:p>
                  </a:txBody>
                  <a:tcPr marL="94017" marR="94017" marT="47008" marB="47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900" dirty="0"/>
                        <a:t>Allows multiple clients to access and modify files without conflict.</a:t>
                      </a:r>
                    </a:p>
                  </a:txBody>
                  <a:tcPr marL="94017" marR="94017" marT="47008" marB="47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51165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7933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DE5A1C-4774-A69D-D81D-4F24EE1CD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6821" y="1371600"/>
            <a:ext cx="6034187" cy="1097280"/>
          </a:xfrm>
        </p:spPr>
        <p:txBody>
          <a:bodyPr>
            <a:normAutofit/>
          </a:bodyPr>
          <a:lstStyle/>
          <a:p>
            <a:r>
              <a:rPr lang="en-US" dirty="0"/>
              <a:t>Example Features</a:t>
            </a:r>
          </a:p>
        </p:txBody>
      </p:sp>
      <p:pic>
        <p:nvPicPr>
          <p:cNvPr id="6" name="Picture 5" descr="Blue blocks and networks technology background">
            <a:extLst>
              <a:ext uri="{FF2B5EF4-FFF2-40B4-BE49-F238E27FC236}">
                <a16:creationId xmlns:a16="http://schemas.microsoft.com/office/drawing/2014/main" id="{A19DAB4A-AB61-536E-2317-F35D92117C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622" r="45533" b="-446"/>
          <a:stretch>
            <a:fillRect/>
          </a:stretch>
        </p:blipFill>
        <p:spPr>
          <a:xfrm>
            <a:off x="20" y="10"/>
            <a:ext cx="4857871" cy="685799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91422F5-4221-4812-AFD9-5479C6D60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80905" y="1031005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C4B8D029-A975-2110-DC78-ACC0A44A2E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96821" y="2633236"/>
            <a:ext cx="6034187" cy="36646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algn="just" eaLnBrk="0" fontAlgn="base" hangingPunct="0"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Replication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Files are stored in multiple locations for redundancy.</a:t>
            </a:r>
          </a:p>
          <a:p>
            <a:pPr algn="just" eaLnBrk="0" fontAlgn="base" hangingPunct="0"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Access Control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Permissions and user authentication ensure data security.</a:t>
            </a:r>
          </a:p>
          <a:p>
            <a:pPr algn="just" eaLnBrk="0" fontAlgn="base" hangingPunct="0"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Client-Server Architecture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Clients request files via a DFS protocol from one or more servers.</a:t>
            </a:r>
          </a:p>
        </p:txBody>
      </p:sp>
    </p:spTree>
    <p:extLst>
      <p:ext uri="{BB962C8B-B14F-4D97-AF65-F5344CB8AC3E}">
        <p14:creationId xmlns:p14="http://schemas.microsoft.com/office/powerpoint/2010/main" val="593852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760AB3-3BDC-0CC5-08F8-46C126678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6821" y="1371600"/>
            <a:ext cx="6034187" cy="1097280"/>
          </a:xfrm>
        </p:spPr>
        <p:txBody>
          <a:bodyPr>
            <a:normAutofit/>
          </a:bodyPr>
          <a:lstStyle/>
          <a:p>
            <a:r>
              <a:rPr lang="en-US" dirty="0"/>
              <a:t>Real-World Use Cases</a:t>
            </a:r>
          </a:p>
        </p:txBody>
      </p:sp>
      <p:pic>
        <p:nvPicPr>
          <p:cNvPr id="6" name="Picture 5" descr="A digital map">
            <a:extLst>
              <a:ext uri="{FF2B5EF4-FFF2-40B4-BE49-F238E27FC236}">
                <a16:creationId xmlns:a16="http://schemas.microsoft.com/office/drawing/2014/main" id="{E7BD9389-F572-F450-71BF-DD30D31C14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455" r="15262" b="-1"/>
          <a:stretch>
            <a:fillRect/>
          </a:stretch>
        </p:blipFill>
        <p:spPr>
          <a:xfrm>
            <a:off x="20" y="10"/>
            <a:ext cx="4857871" cy="685799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91422F5-4221-4812-AFD9-5479C6D60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80905" y="1031005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6E82B690-120E-3E5A-26AD-FC2378B70E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96821" y="2633236"/>
            <a:ext cx="6034187" cy="36646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algn="just" eaLnBrk="0" fontAlgn="base" hangingPunct="0"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Big Data Analytics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Hadoop uses HDFS to manage massive datasets.</a:t>
            </a:r>
          </a:p>
          <a:p>
            <a:pPr algn="just" eaLnBrk="0" fontAlgn="base" hangingPunct="0"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Cloud Storage Systems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Google File System, Amazon S3 (object storage with DFS characteristics).</a:t>
            </a:r>
          </a:p>
          <a:p>
            <a:pPr algn="just" eaLnBrk="0" fontAlgn="base" hangingPunct="0"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Enterprise Systems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Shared network drives across distributed teams.</a:t>
            </a:r>
          </a:p>
        </p:txBody>
      </p:sp>
    </p:spTree>
    <p:extLst>
      <p:ext uri="{BB962C8B-B14F-4D97-AF65-F5344CB8AC3E}">
        <p14:creationId xmlns:p14="http://schemas.microsoft.com/office/powerpoint/2010/main" val="3792461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99" name="Straight Connector 819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8201" name="Rectangle 8200">
            <a:extLst>
              <a:ext uri="{FF2B5EF4-FFF2-40B4-BE49-F238E27FC236}">
                <a16:creationId xmlns:a16="http://schemas.microsoft.com/office/drawing/2014/main" id="{149F9F0F-FB8C-5565-247C-BDCC156B5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203" name="Rectangle 8202">
            <a:extLst>
              <a:ext uri="{FF2B5EF4-FFF2-40B4-BE49-F238E27FC236}">
                <a16:creationId xmlns:a16="http://schemas.microsoft.com/office/drawing/2014/main" id="{ABA4FDDF-F59C-428B-8603-3A86D7593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05" name="Rectangle 8204">
            <a:extLst>
              <a:ext uri="{FF2B5EF4-FFF2-40B4-BE49-F238E27FC236}">
                <a16:creationId xmlns:a16="http://schemas.microsoft.com/office/drawing/2014/main" id="{F5B93277-2482-DF5B-A88D-67715E164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90598" y="993391"/>
            <a:ext cx="10221542" cy="4870429"/>
          </a:xfrm>
          <a:prstGeom prst="rect">
            <a:avLst/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94" name="Picture 2" descr="What is a Distributed File System (DFS)? | Definition from TechTarget">
            <a:extLst>
              <a:ext uri="{FF2B5EF4-FFF2-40B4-BE49-F238E27FC236}">
                <a16:creationId xmlns:a16="http://schemas.microsoft.com/office/drawing/2014/main" id="{489FAAA4-10DE-84C7-EC2B-7274927B127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57" r="2" b="2"/>
          <a:stretch>
            <a:fillRect/>
          </a:stretch>
        </p:blipFill>
        <p:spPr bwMode="auto">
          <a:xfrm>
            <a:off x="990599" y="994180"/>
            <a:ext cx="10221541" cy="4871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207" name="Straight Connector 8206">
            <a:extLst>
              <a:ext uri="{FF2B5EF4-FFF2-40B4-BE49-F238E27FC236}">
                <a16:creationId xmlns:a16="http://schemas.microsoft.com/office/drawing/2014/main" id="{9AE2764D-E1C7-4C0E-A5A4-12411550AB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212140" y="993391"/>
            <a:ext cx="0" cy="4871218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58348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09E9D2-C64C-89B4-E855-C8E713865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904" y="914400"/>
            <a:ext cx="4261104" cy="109728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/>
              <a:t>Hadoop Distributed File System (HDFS)</a:t>
            </a:r>
          </a:p>
        </p:txBody>
      </p:sp>
      <p:pic>
        <p:nvPicPr>
          <p:cNvPr id="14" name="Picture 13" descr="Close-up of several black hard drives&#10;&#10;AI-generated content may be incorrect.">
            <a:extLst>
              <a:ext uri="{FF2B5EF4-FFF2-40B4-BE49-F238E27FC236}">
                <a16:creationId xmlns:a16="http://schemas.microsoft.com/office/drawing/2014/main" id="{A4F918F6-A0CE-F7C7-D1B6-9ECB7538C8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16" r="29034" b="-2"/>
          <a:stretch>
            <a:fillRect/>
          </a:stretch>
        </p:blipFill>
        <p:spPr>
          <a:xfrm>
            <a:off x="-1" y="914399"/>
            <a:ext cx="6657255" cy="5353523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8052531-D50B-3899-B150-D05525F4F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6267922"/>
            <a:ext cx="6656832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06CD9-6BA6-1B2A-BF7E-06D2D2758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9905" y="2176036"/>
            <a:ext cx="4261104" cy="4121887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sz="2400" dirty="0"/>
              <a:t>The </a:t>
            </a:r>
            <a:r>
              <a:rPr lang="en-US" sz="2400" b="1" dirty="0"/>
              <a:t>Hadoop Distributed File System (HDFS)</a:t>
            </a:r>
            <a:r>
              <a:rPr lang="en-US" sz="2400" dirty="0"/>
              <a:t> is the primary storage system used by the </a:t>
            </a:r>
            <a:r>
              <a:rPr lang="en-US" sz="2400" b="1" dirty="0"/>
              <a:t>Apache Hadoop</a:t>
            </a:r>
            <a:r>
              <a:rPr lang="en-US" sz="2400" dirty="0"/>
              <a:t> framework. It is optimized for: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/>
              <a:t>Storing large datasets (TBs to PBs)</a:t>
            </a:r>
            <a:endParaRPr lang="en-US" sz="24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/>
              <a:t>High-throughput data access</a:t>
            </a:r>
            <a:endParaRPr lang="en-US" sz="24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/>
              <a:t>Write-once, read-many workloads</a:t>
            </a:r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82629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5EE7E9-5928-4CD4-37AA-77721A263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9932" y="1186382"/>
            <a:ext cx="3324820" cy="26822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/>
              <a:t>HDFS Architecture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4AC3912-9445-326E-F355-EA4A288013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8153209-BF7C-1861-B4EE-0A7B83D7C8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0547019"/>
              </p:ext>
            </p:extLst>
          </p:nvPr>
        </p:nvGraphicFramePr>
        <p:xfrm>
          <a:off x="672253" y="1905587"/>
          <a:ext cx="6881992" cy="2882876"/>
        </p:xfrm>
        <a:graphic>
          <a:graphicData uri="http://schemas.openxmlformats.org/drawingml/2006/table">
            <a:tbl>
              <a:tblPr>
                <a:solidFill>
                  <a:srgbClr val="404040"/>
                </a:solidFill>
              </a:tblPr>
              <a:tblGrid>
                <a:gridCol w="1741332">
                  <a:extLst>
                    <a:ext uri="{9D8B030D-6E8A-4147-A177-3AD203B41FA5}">
                      <a16:colId xmlns:a16="http://schemas.microsoft.com/office/drawing/2014/main" val="479311354"/>
                    </a:ext>
                  </a:extLst>
                </a:gridCol>
                <a:gridCol w="5140660">
                  <a:extLst>
                    <a:ext uri="{9D8B030D-6E8A-4147-A177-3AD203B41FA5}">
                      <a16:colId xmlns:a16="http://schemas.microsoft.com/office/drawing/2014/main" val="831721373"/>
                    </a:ext>
                  </a:extLst>
                </a:gridCol>
              </a:tblGrid>
              <a:tr h="570722"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bg1"/>
                          </a:solidFill>
                        </a:rPr>
                        <a:t>Component</a:t>
                      </a:r>
                    </a:p>
                  </a:txBody>
                  <a:tcPr marL="146339" marR="146339" marT="146339" marB="7316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 marL="146339" marR="146339" marT="146339" marB="7316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991405"/>
                  </a:ext>
                </a:extLst>
              </a:tr>
              <a:tr h="1156077">
                <a:tc>
                  <a:txBody>
                    <a:bodyPr/>
                    <a:lstStyle/>
                    <a:p>
                      <a:r>
                        <a:rPr lang="en-US" sz="1900" b="1" cap="none" spc="0">
                          <a:solidFill>
                            <a:schemeClr val="bg1"/>
                          </a:solidFill>
                        </a:rPr>
                        <a:t>NameNode</a:t>
                      </a:r>
                      <a:endParaRPr lang="en-US" sz="19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46339" marR="146339" marT="146339" marB="7316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bg1"/>
                          </a:solidFill>
                        </a:rPr>
                        <a:t>The master server that manages filesystem namespace and metadata (e.g., file-to-block mapping, permissions).</a:t>
                      </a:r>
                    </a:p>
                  </a:txBody>
                  <a:tcPr marL="146339" marR="146339" marT="146339" marB="7316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2067335"/>
                  </a:ext>
                </a:extLst>
              </a:tr>
              <a:tr h="1156077">
                <a:tc>
                  <a:txBody>
                    <a:bodyPr/>
                    <a:lstStyle/>
                    <a:p>
                      <a:r>
                        <a:rPr lang="en-US" sz="1900" b="1" cap="none" spc="0">
                          <a:solidFill>
                            <a:schemeClr val="bg1"/>
                          </a:solidFill>
                        </a:rPr>
                        <a:t>DataNodes</a:t>
                      </a:r>
                      <a:endParaRPr lang="en-US" sz="19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46339" marR="146339" marT="146339" marB="7316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bg1"/>
                          </a:solidFill>
                        </a:rPr>
                        <a:t>The worker nodes that store the actual data blocks. They send heartbeats and block reports to the NameNode.</a:t>
                      </a:r>
                    </a:p>
                  </a:txBody>
                  <a:tcPr marL="146339" marR="146339" marT="146339" marB="7316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57260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40DF809-0F0E-22EA-830B-56C5EE0D537A}"/>
              </a:ext>
            </a:extLst>
          </p:cNvPr>
          <p:cNvSpPr txBox="1"/>
          <p:nvPr/>
        </p:nvSpPr>
        <p:spPr>
          <a:xfrm>
            <a:off x="672252" y="5180668"/>
            <a:ext cx="1081249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➡️ Files are divided into large </a:t>
            </a:r>
            <a:r>
              <a:rPr lang="en-US" sz="2400" b="1" dirty="0"/>
              <a:t>blocks (default 128MB)</a:t>
            </a:r>
            <a:r>
              <a:rPr lang="en-US" sz="2400" dirty="0"/>
              <a:t> and distributed across multiple </a:t>
            </a:r>
            <a:r>
              <a:rPr lang="en-US" sz="2400" dirty="0" err="1"/>
              <a:t>DataNodes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720700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BD7C80-6898-7248-C55D-5F5D9F825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8FE65C-87E5-2007-6193-47218CA78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852160" cy="1097280"/>
          </a:xfrm>
        </p:spPr>
        <p:txBody>
          <a:bodyPr anchor="t">
            <a:normAutofit/>
          </a:bodyPr>
          <a:lstStyle/>
          <a:p>
            <a:r>
              <a:rPr lang="en-US" dirty="0"/>
              <a:t>Data Flow in HDFS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628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A41013E1-BDA0-0EDC-57C3-0F779EED66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0080" y="2633236"/>
            <a:ext cx="5852160" cy="366468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92500"/>
          </a:bodyPr>
          <a:lstStyle/>
          <a:p>
            <a:pPr algn="just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Tx/>
              <a:buFont typeface="Wingdings" panose="05000000000000000000" pitchFamily="2" charset="2"/>
              <a:buChar char="§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Write Operation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</a:p>
          <a:p>
            <a:pPr marL="685800" algn="just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Client contacts the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NameNode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to get block placement.</a:t>
            </a:r>
          </a:p>
          <a:p>
            <a:pPr marL="685800" algn="just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NameNode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provides the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DataNode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sequence.</a:t>
            </a:r>
          </a:p>
          <a:p>
            <a:pPr marL="685800" algn="just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Client writes data in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pipeline fashion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to the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DataNodes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algn="just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Tx/>
              <a:buFont typeface="Wingdings" panose="05000000000000000000" pitchFamily="2" charset="2"/>
              <a:buChar char="§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Read Operation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</a:p>
          <a:p>
            <a:pPr marL="685800" algn="just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Client queries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NameNode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for block locations.</a:t>
            </a:r>
          </a:p>
          <a:p>
            <a:pPr marL="685800" algn="just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Client directly reads blocks from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DataNodes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16" name="Picture 15" descr="Top view of cubes connected with black lines">
            <a:extLst>
              <a:ext uri="{FF2B5EF4-FFF2-40B4-BE49-F238E27FC236}">
                <a16:creationId xmlns:a16="http://schemas.microsoft.com/office/drawing/2014/main" id="{5A3048F4-32D5-15EF-ECCA-58ABD980A9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461" r="18539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8820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D9733C-1170-311D-932A-F8DF525B8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AF857A-C65B-7FC7-7A44-964CE3A5E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852160" cy="1097280"/>
          </a:xfrm>
        </p:spPr>
        <p:txBody>
          <a:bodyPr anchor="t">
            <a:normAutofit/>
          </a:bodyPr>
          <a:lstStyle/>
          <a:p>
            <a:r>
              <a:rPr lang="en-US" b="1" dirty="0"/>
              <a:t>Use Cases of HDFS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628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E07B3B46-335B-DDC6-F4E7-E0E70B5D87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0080" y="2633236"/>
            <a:ext cx="5852160" cy="366468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Data Warehousing</a:t>
            </a:r>
            <a:endParaRPr kumimoji="0" lang="en-US" altLang="en-US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Web Log Processing</a:t>
            </a:r>
            <a:endParaRPr kumimoji="0" lang="en-US" altLang="en-US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Machine Learning Pipelines</a:t>
            </a:r>
            <a:endParaRPr kumimoji="0" lang="en-US" altLang="en-US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Social Media Analytics</a:t>
            </a:r>
            <a:endParaRPr kumimoji="0" lang="en-US" altLang="en-US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 descr="3D Hologram from iPad">
            <a:extLst>
              <a:ext uri="{FF2B5EF4-FFF2-40B4-BE49-F238E27FC236}">
                <a16:creationId xmlns:a16="http://schemas.microsoft.com/office/drawing/2014/main" id="{4B1E8112-9BAE-AAB7-B7D7-EC36396953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762" r="35067" b="-1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8615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0D716-3EE8-4EC0-5061-D6BC4ECFD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3" name="Picture 5" descr="Hadoop – Architecture | GeeksforGeeks">
            <a:extLst>
              <a:ext uri="{FF2B5EF4-FFF2-40B4-BE49-F238E27FC236}">
                <a16:creationId xmlns:a16="http://schemas.microsoft.com/office/drawing/2014/main" id="{D2F977F7-C898-FA6D-A5C2-E965178500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5362" y="3024187"/>
            <a:ext cx="2581275" cy="177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5" name="Picture 7" descr="Hadoop – Architecture | GeeksforGeeks">
            <a:extLst>
              <a:ext uri="{FF2B5EF4-FFF2-40B4-BE49-F238E27FC236}">
                <a16:creationId xmlns:a16="http://schemas.microsoft.com/office/drawing/2014/main" id="{6479D5A1-63E3-B1D5-9D51-70EAD86163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837" y="0"/>
            <a:ext cx="11968163" cy="6769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72245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95AACC-B4DF-0414-62A6-D6784D528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01D3E2-9D54-B944-C882-7439942F9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852160" cy="1097280"/>
          </a:xfrm>
        </p:spPr>
        <p:txBody>
          <a:bodyPr anchor="t">
            <a:normAutofit/>
          </a:bodyPr>
          <a:lstStyle/>
          <a:p>
            <a:r>
              <a:rPr lang="en-US" dirty="0"/>
              <a:t>Google File System (GFS)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628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AACFF-801F-D5BC-8F77-ED4B5F93A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5852160" cy="3664685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Google File System (GFS)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is a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proprietary distributed file system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developed by Google to meet the demands of: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Large-scale data processing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High fault tolerance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Efficient handling of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very large files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(multi-GB+)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D08F00-CDFB-E176-8394-ACA51C0426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115" r="44135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4790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DBAD1B-C10B-02DD-BC9B-ED1663E1E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1C69525-1BE4-4BA0-A23C-3BB6C162E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0045A3-C05E-B4B3-3EAB-B9E6441EA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</p:spPr>
        <p:txBody>
          <a:bodyPr>
            <a:normAutofit/>
          </a:bodyPr>
          <a:lstStyle/>
          <a:p>
            <a:r>
              <a:rPr lang="en-US" dirty="0"/>
              <a:t>GFS Architecture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8AF875-C18B-4B48-AE4C-A63FD3CEF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5BD6CBC-81D0-99D7-F0CE-53A43161AF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0509197"/>
              </p:ext>
            </p:extLst>
          </p:nvPr>
        </p:nvGraphicFramePr>
        <p:xfrm>
          <a:off x="640079" y="2835261"/>
          <a:ext cx="10890930" cy="3186447"/>
        </p:xfrm>
        <a:graphic>
          <a:graphicData uri="http://schemas.openxmlformats.org/drawingml/2006/table">
            <a:tbl>
              <a:tblPr firstRow="1" bandRow="1"/>
              <a:tblGrid>
                <a:gridCol w="3685988">
                  <a:extLst>
                    <a:ext uri="{9D8B030D-6E8A-4147-A177-3AD203B41FA5}">
                      <a16:colId xmlns:a16="http://schemas.microsoft.com/office/drawing/2014/main" val="2406538477"/>
                    </a:ext>
                  </a:extLst>
                </a:gridCol>
                <a:gridCol w="7204942">
                  <a:extLst>
                    <a:ext uri="{9D8B030D-6E8A-4147-A177-3AD203B41FA5}">
                      <a16:colId xmlns:a16="http://schemas.microsoft.com/office/drawing/2014/main" val="4194446239"/>
                    </a:ext>
                  </a:extLst>
                </a:gridCol>
              </a:tblGrid>
              <a:tr h="527082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Component</a:t>
                      </a:r>
                    </a:p>
                  </a:txBody>
                  <a:tcPr marL="119791" marR="119791" marT="59896" marB="598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Description</a:t>
                      </a:r>
                    </a:p>
                  </a:txBody>
                  <a:tcPr marL="119791" marR="119791" marT="59896" marB="598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3341402"/>
                  </a:ext>
                </a:extLst>
              </a:tr>
              <a:tr h="886455">
                <a:tc>
                  <a:txBody>
                    <a:bodyPr/>
                    <a:lstStyle/>
                    <a:p>
                      <a:r>
                        <a:rPr lang="en-US" sz="2400" b="1"/>
                        <a:t>Master Server</a:t>
                      </a:r>
                      <a:endParaRPr lang="en-US" sz="2400"/>
                    </a:p>
                  </a:txBody>
                  <a:tcPr marL="119791" marR="119791" marT="59896" marB="598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Manages metadata (namespace, access control, file-to-chunk mapping).</a:t>
                      </a:r>
                    </a:p>
                  </a:txBody>
                  <a:tcPr marL="119791" marR="119791" marT="59896" marB="598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2925433"/>
                  </a:ext>
                </a:extLst>
              </a:tr>
              <a:tr h="886455">
                <a:tc>
                  <a:txBody>
                    <a:bodyPr/>
                    <a:lstStyle/>
                    <a:p>
                      <a:r>
                        <a:rPr lang="en-US" sz="2400" b="1"/>
                        <a:t>Chunkservers</a:t>
                      </a:r>
                      <a:endParaRPr lang="en-US" sz="2400"/>
                    </a:p>
                  </a:txBody>
                  <a:tcPr marL="119791" marR="119791" marT="59896" marB="598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Store file data in </a:t>
                      </a:r>
                      <a:r>
                        <a:rPr lang="en-US" sz="2400" b="1" dirty="0"/>
                        <a:t>fixed-size chunks</a:t>
                      </a:r>
                      <a:r>
                        <a:rPr lang="en-US" sz="2400" dirty="0"/>
                        <a:t> (64MB each), identified by chunk handles.</a:t>
                      </a:r>
                    </a:p>
                  </a:txBody>
                  <a:tcPr marL="119791" marR="119791" marT="59896" marB="598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9979429"/>
                  </a:ext>
                </a:extLst>
              </a:tr>
              <a:tr h="886455">
                <a:tc>
                  <a:txBody>
                    <a:bodyPr/>
                    <a:lstStyle/>
                    <a:p>
                      <a:r>
                        <a:rPr lang="en-US" sz="2400" b="1"/>
                        <a:t>Clients</a:t>
                      </a:r>
                      <a:endParaRPr lang="en-US" sz="2400"/>
                    </a:p>
                  </a:txBody>
                  <a:tcPr marL="119791" marR="119791" marT="59896" marB="598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Request file operations; interact with Master for metadata, and </a:t>
                      </a:r>
                      <a:r>
                        <a:rPr lang="en-US" sz="2400" dirty="0" err="1"/>
                        <a:t>Chunkservers</a:t>
                      </a:r>
                      <a:r>
                        <a:rPr lang="en-US" sz="2400" dirty="0"/>
                        <a:t> for actual data.</a:t>
                      </a:r>
                    </a:p>
                  </a:txBody>
                  <a:tcPr marL="119791" marR="119791" marT="59896" marB="598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51966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57628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57A7A1-D40D-856D-0753-247C4F2C3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6821" y="1371600"/>
            <a:ext cx="6034187" cy="1097280"/>
          </a:xfrm>
        </p:spPr>
        <p:txBody>
          <a:bodyPr>
            <a:normAutofit/>
          </a:bodyPr>
          <a:lstStyle/>
          <a:p>
            <a:r>
              <a:rPr lang="en-US" dirty="0"/>
              <a:t>GFS Data Operations</a:t>
            </a:r>
          </a:p>
        </p:txBody>
      </p:sp>
      <p:pic>
        <p:nvPicPr>
          <p:cNvPr id="7" name="Picture 6" descr="Computer script on a screen">
            <a:extLst>
              <a:ext uri="{FF2B5EF4-FFF2-40B4-BE49-F238E27FC236}">
                <a16:creationId xmlns:a16="http://schemas.microsoft.com/office/drawing/2014/main" id="{97E7DAF5-C875-8DAA-03E3-78AE525EE0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472" r="46245" b="-1"/>
          <a:stretch>
            <a:fillRect/>
          </a:stretch>
        </p:blipFill>
        <p:spPr>
          <a:xfrm>
            <a:off x="20" y="10"/>
            <a:ext cx="4857871" cy="685799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91422F5-4221-4812-AFD9-5479C6D60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80905" y="1031005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>
            <a:extLst>
              <a:ext uri="{FF2B5EF4-FFF2-40B4-BE49-F238E27FC236}">
                <a16:creationId xmlns:a16="http://schemas.microsoft.com/office/drawing/2014/main" id="{38A75DFC-1FB4-207A-98EA-F1C7368808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96821" y="2228850"/>
            <a:ext cx="6034187" cy="46291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algn="just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Tx/>
              <a:buFont typeface="Wingdings" panose="05000000000000000000" pitchFamily="2" charset="2"/>
              <a:buChar char="§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File Creation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</a:p>
          <a:p>
            <a:pPr marL="685800" algn="just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Client sends request to Master.</a:t>
            </a:r>
          </a:p>
          <a:p>
            <a:pPr marL="685800" algn="just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Master allocates chunk handles and returns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Chunkserver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locations.</a:t>
            </a:r>
          </a:p>
          <a:p>
            <a:pPr algn="just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Tx/>
              <a:buFont typeface="Wingdings" panose="05000000000000000000" pitchFamily="2" charset="2"/>
              <a:buChar char="§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Reading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</a:p>
          <a:p>
            <a:pPr marL="685800" algn="just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lang="en-US" altLang="en-US" sz="1800" dirty="0">
                <a:latin typeface="Arial" panose="020B0604020202020204" pitchFamily="34" charset="0"/>
              </a:rPr>
              <a:t>Client fetches metadata from Master.</a:t>
            </a:r>
          </a:p>
          <a:p>
            <a:pPr marL="685800" algn="just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lang="en-US" altLang="en-US" sz="1800" dirty="0">
                <a:latin typeface="Arial" panose="020B0604020202020204" pitchFamily="34" charset="0"/>
              </a:rPr>
              <a:t>Reads data directly from </a:t>
            </a:r>
            <a:r>
              <a:rPr lang="en-US" altLang="en-US" sz="1800" dirty="0" err="1">
                <a:latin typeface="Arial" panose="020B0604020202020204" pitchFamily="34" charset="0"/>
              </a:rPr>
              <a:t>Chunkservers</a:t>
            </a:r>
            <a:r>
              <a:rPr lang="en-US" altLang="en-US" sz="1800" dirty="0">
                <a:latin typeface="Arial" panose="020B0604020202020204" pitchFamily="34" charset="0"/>
              </a:rPr>
              <a:t>.</a:t>
            </a:r>
          </a:p>
          <a:p>
            <a:pPr algn="just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Tx/>
              <a:buFont typeface="Wingdings" panose="05000000000000000000" pitchFamily="2" charset="2"/>
              <a:buChar char="§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Appending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</a:p>
          <a:p>
            <a:pPr marL="685800" algn="just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Supports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record appends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optimized for concurrent writers.</a:t>
            </a:r>
          </a:p>
          <a:p>
            <a:pPr marL="685800" algn="just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Ensures at-least-once semantics with optional application-level deduplication.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56949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AE965-EAE1-3E94-693C-286E456BF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All you need to know about the Google File System | by Vu Trinh | The Deep  Hub | Medium">
            <a:extLst>
              <a:ext uri="{FF2B5EF4-FFF2-40B4-BE49-F238E27FC236}">
                <a16:creationId xmlns:a16="http://schemas.microsoft.com/office/drawing/2014/main" id="{D9772096-5634-C890-BD7D-F98D97A3516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8665" y="519113"/>
            <a:ext cx="8668385" cy="6191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98885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89F803-492F-C32C-F95D-7F8F68097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A1E2EA-AED7-F186-3317-E645CE9C2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030" y="304803"/>
            <a:ext cx="3291840" cy="277021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dirty="0"/>
              <a:t>HDFS vs GFS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9D7B6BE-A4E0-4483-BEC5-493AC3E5D2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4596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4FAAE14-643A-2273-6A5D-0B90C8B6B9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2722000"/>
              </p:ext>
            </p:extLst>
          </p:nvPr>
        </p:nvGraphicFramePr>
        <p:xfrm>
          <a:off x="3181350" y="304803"/>
          <a:ext cx="8349236" cy="6462362"/>
        </p:xfrm>
        <a:graphic>
          <a:graphicData uri="http://schemas.openxmlformats.org/drawingml/2006/table">
            <a:tbl>
              <a:tblPr/>
              <a:tblGrid>
                <a:gridCol w="2773107">
                  <a:extLst>
                    <a:ext uri="{9D8B030D-6E8A-4147-A177-3AD203B41FA5}">
                      <a16:colId xmlns:a16="http://schemas.microsoft.com/office/drawing/2014/main" val="3364695266"/>
                    </a:ext>
                  </a:extLst>
                </a:gridCol>
                <a:gridCol w="2817977">
                  <a:extLst>
                    <a:ext uri="{9D8B030D-6E8A-4147-A177-3AD203B41FA5}">
                      <a16:colId xmlns:a16="http://schemas.microsoft.com/office/drawing/2014/main" val="3684300594"/>
                    </a:ext>
                  </a:extLst>
                </a:gridCol>
                <a:gridCol w="2758152">
                  <a:extLst>
                    <a:ext uri="{9D8B030D-6E8A-4147-A177-3AD203B41FA5}">
                      <a16:colId xmlns:a16="http://schemas.microsoft.com/office/drawing/2014/main" val="2650752396"/>
                    </a:ext>
                  </a:extLst>
                </a:gridCol>
              </a:tblGrid>
              <a:tr h="3918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effectLst/>
                          <a:latin typeface="Arial" panose="020B0604020202020204" pitchFamily="34" charset="0"/>
                        </a:rPr>
                        <a:t>Feature</a:t>
                      </a:r>
                    </a:p>
                  </a:txBody>
                  <a:tcPr marL="61002" marR="61002" marT="30501" marB="30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>
                          <a:effectLst/>
                          <a:latin typeface="Arial" panose="020B0604020202020204" pitchFamily="34" charset="0"/>
                        </a:rPr>
                        <a:t>HDFS (Hadoop DFS)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002" marR="61002" marT="30501" marB="30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 dirty="0">
                          <a:effectLst/>
                          <a:latin typeface="Arial" panose="020B0604020202020204" pitchFamily="34" charset="0"/>
                        </a:rPr>
                        <a:t>GFS (Google FS)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002" marR="61002" marT="30501" marB="30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0393428"/>
                  </a:ext>
                </a:extLst>
              </a:tr>
              <a:tr h="39187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effectLst/>
                          <a:latin typeface="Arial" panose="020B0604020202020204" pitchFamily="34" charset="0"/>
                        </a:rPr>
                        <a:t>Developed By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002" marR="61002" marT="30501" marB="30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Apache Hadoop Community</a:t>
                      </a:r>
                    </a:p>
                  </a:txBody>
                  <a:tcPr marL="61002" marR="61002" marT="30501" marB="30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Google</a:t>
                      </a:r>
                    </a:p>
                  </a:txBody>
                  <a:tcPr marL="61002" marR="61002" marT="30501" marB="30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1871772"/>
                  </a:ext>
                </a:extLst>
              </a:tr>
              <a:tr h="65905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 dirty="0">
                          <a:effectLst/>
                          <a:latin typeface="Arial" panose="020B0604020202020204" pitchFamily="34" charset="0"/>
                        </a:rPr>
                        <a:t>Purpose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002" marR="61002" marT="30501" marB="30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Open-source DFS for big data processing</a:t>
                      </a:r>
                    </a:p>
                  </a:txBody>
                  <a:tcPr marL="61002" marR="61002" marT="30501" marB="30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Internal DFS for Google services</a:t>
                      </a:r>
                    </a:p>
                  </a:txBody>
                  <a:tcPr marL="61002" marR="61002" marT="30501" marB="30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458856"/>
                  </a:ext>
                </a:extLst>
              </a:tr>
              <a:tr h="65905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 dirty="0">
                          <a:effectLst/>
                          <a:latin typeface="Arial" panose="020B0604020202020204" pitchFamily="34" charset="0"/>
                        </a:rPr>
                        <a:t>Architecture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002" marR="61002" marT="30501" marB="30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dirty="0" err="1">
                          <a:effectLst/>
                          <a:latin typeface="Arial" panose="020B0604020202020204" pitchFamily="34" charset="0"/>
                        </a:rPr>
                        <a:t>NameNode</a:t>
                      </a:r>
                      <a:r>
                        <a:rPr lang="en-US" sz="1600" b="0" i="0" u="none" strike="noStrike" dirty="0">
                          <a:effectLst/>
                          <a:latin typeface="Arial" panose="020B0604020202020204" pitchFamily="34" charset="0"/>
                        </a:rPr>
                        <a:t> (Master), </a:t>
                      </a:r>
                      <a:r>
                        <a:rPr lang="en-US" sz="1600" b="0" i="0" u="none" strike="noStrike" dirty="0" err="1">
                          <a:effectLst/>
                          <a:latin typeface="Arial" panose="020B0604020202020204" pitchFamily="34" charset="0"/>
                        </a:rPr>
                        <a:t>DataNodes</a:t>
                      </a:r>
                      <a:r>
                        <a:rPr lang="en-US" sz="1600" b="0" i="0" u="none" strike="noStrike" dirty="0">
                          <a:effectLst/>
                          <a:latin typeface="Arial" panose="020B0604020202020204" pitchFamily="34" charset="0"/>
                        </a:rPr>
                        <a:t> (Workers)</a:t>
                      </a:r>
                    </a:p>
                  </a:txBody>
                  <a:tcPr marL="61002" marR="61002" marT="30501" marB="30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Master Server, Chunkservers</a:t>
                      </a:r>
                    </a:p>
                  </a:txBody>
                  <a:tcPr marL="61002" marR="61002" marT="30501" marB="30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0957808"/>
                  </a:ext>
                </a:extLst>
              </a:tr>
              <a:tr h="39187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 dirty="0">
                          <a:effectLst/>
                          <a:latin typeface="Arial" panose="020B0604020202020204" pitchFamily="34" charset="0"/>
                        </a:rPr>
                        <a:t>Block/Chunk Size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002" marR="61002" marT="30501" marB="30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dirty="0">
                          <a:effectLst/>
                          <a:latin typeface="Arial" panose="020B0604020202020204" pitchFamily="34" charset="0"/>
                        </a:rPr>
                        <a:t>128 MB (configurable)</a:t>
                      </a:r>
                    </a:p>
                  </a:txBody>
                  <a:tcPr marL="61002" marR="61002" marT="30501" marB="30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64 MB (fixed)</a:t>
                      </a:r>
                    </a:p>
                  </a:txBody>
                  <a:tcPr marL="61002" marR="61002" marT="30501" marB="30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4530684"/>
                  </a:ext>
                </a:extLst>
              </a:tr>
              <a:tr h="39187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effectLst/>
                          <a:latin typeface="Arial" panose="020B0604020202020204" pitchFamily="34" charset="0"/>
                        </a:rPr>
                        <a:t>File Access Pattern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002" marR="61002" marT="30501" marB="30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dirty="0">
                          <a:effectLst/>
                          <a:latin typeface="Arial" panose="020B0604020202020204" pitchFamily="34" charset="0"/>
                        </a:rPr>
                        <a:t>Write-once, read-many</a:t>
                      </a:r>
                    </a:p>
                  </a:txBody>
                  <a:tcPr marL="61002" marR="61002" marT="30501" marB="30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Append-only writes, read-many</a:t>
                      </a:r>
                    </a:p>
                  </a:txBody>
                  <a:tcPr marL="61002" marR="61002" marT="30501" marB="30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9701087"/>
                  </a:ext>
                </a:extLst>
              </a:tr>
              <a:tr h="65905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effectLst/>
                          <a:latin typeface="Arial" panose="020B0604020202020204" pitchFamily="34" charset="0"/>
                        </a:rPr>
                        <a:t>Metadata Storage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002" marR="61002" marT="30501" marB="30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dirty="0">
                          <a:effectLst/>
                          <a:latin typeface="Arial" panose="020B0604020202020204" pitchFamily="34" charset="0"/>
                        </a:rPr>
                        <a:t>Stored in memory on </a:t>
                      </a:r>
                      <a:r>
                        <a:rPr lang="en-US" sz="1600" b="0" i="0" u="none" strike="noStrike" dirty="0" err="1">
                          <a:effectLst/>
                          <a:latin typeface="Arial" panose="020B0604020202020204" pitchFamily="34" charset="0"/>
                        </a:rPr>
                        <a:t>NameNode</a:t>
                      </a:r>
                      <a:r>
                        <a:rPr lang="en-US" sz="1600" b="0" i="0" u="none" strike="noStrike" dirty="0">
                          <a:effectLst/>
                          <a:latin typeface="Arial" panose="020B0604020202020204" pitchFamily="34" charset="0"/>
                        </a:rPr>
                        <a:t>, also persisted</a:t>
                      </a:r>
                    </a:p>
                  </a:txBody>
                  <a:tcPr marL="61002" marR="61002" marT="30501" marB="30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Stored in memory and periodically logged to disk</a:t>
                      </a:r>
                    </a:p>
                  </a:txBody>
                  <a:tcPr marL="61002" marR="61002" marT="30501" marB="30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687167"/>
                  </a:ext>
                </a:extLst>
              </a:tr>
              <a:tr h="39187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effectLst/>
                          <a:latin typeface="Arial" panose="020B0604020202020204" pitchFamily="34" charset="0"/>
                        </a:rPr>
                        <a:t>Replication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002" marR="61002" marT="30501" marB="30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dirty="0">
                          <a:effectLst/>
                          <a:latin typeface="Arial" panose="020B0604020202020204" pitchFamily="34" charset="0"/>
                        </a:rPr>
                        <a:t>Default 3 replicas</a:t>
                      </a:r>
                    </a:p>
                  </a:txBody>
                  <a:tcPr marL="61002" marR="61002" marT="30501" marB="30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Default 3 replicas</a:t>
                      </a:r>
                    </a:p>
                  </a:txBody>
                  <a:tcPr marL="61002" marR="61002" marT="30501" marB="30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3644549"/>
                  </a:ext>
                </a:extLst>
              </a:tr>
              <a:tr h="65905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effectLst/>
                          <a:latin typeface="Arial" panose="020B0604020202020204" pitchFamily="34" charset="0"/>
                        </a:rPr>
                        <a:t>Fault Tolerance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002" marR="61002" marT="30501" marB="30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dirty="0">
                          <a:effectLst/>
                          <a:latin typeface="Arial" panose="020B0604020202020204" pitchFamily="34" charset="0"/>
                        </a:rPr>
                        <a:t>Automatic failover with HA </a:t>
                      </a:r>
                      <a:r>
                        <a:rPr lang="en-US" sz="1600" b="0" i="0" u="none" strike="noStrike" dirty="0" err="1">
                          <a:effectLst/>
                          <a:latin typeface="Arial" panose="020B0604020202020204" pitchFamily="34" charset="0"/>
                        </a:rPr>
                        <a:t>NameNode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002" marR="61002" marT="30501" marB="30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dirty="0">
                          <a:effectLst/>
                          <a:latin typeface="Arial" panose="020B0604020202020204" pitchFamily="34" charset="0"/>
                        </a:rPr>
                        <a:t>Chunk versioning and replica checks</a:t>
                      </a:r>
                    </a:p>
                  </a:txBody>
                  <a:tcPr marL="61002" marR="61002" marT="30501" marB="30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3162808"/>
                  </a:ext>
                </a:extLst>
              </a:tr>
              <a:tr h="65905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effectLst/>
                          <a:latin typeface="Arial" panose="020B0604020202020204" pitchFamily="34" charset="0"/>
                        </a:rPr>
                        <a:t>Consistency Model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002" marR="61002" marT="30501" marB="30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dirty="0">
                          <a:effectLst/>
                          <a:latin typeface="Arial" panose="020B0604020202020204" pitchFamily="34" charset="0"/>
                        </a:rPr>
                        <a:t>Strong consistency (atomic operations)</a:t>
                      </a:r>
                    </a:p>
                  </a:txBody>
                  <a:tcPr marL="61002" marR="61002" marT="30501" marB="30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dirty="0">
                          <a:effectLst/>
                          <a:latin typeface="Arial" panose="020B0604020202020204" pitchFamily="34" charset="0"/>
                        </a:rPr>
                        <a:t>Eventual consistency for appends</a:t>
                      </a:r>
                    </a:p>
                  </a:txBody>
                  <a:tcPr marL="61002" marR="61002" marT="30501" marB="30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9015653"/>
                  </a:ext>
                </a:extLst>
              </a:tr>
              <a:tr h="65905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effectLst/>
                          <a:latin typeface="Arial" panose="020B0604020202020204" pitchFamily="34" charset="0"/>
                        </a:rPr>
                        <a:t>Scalability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002" marR="61002" marT="30501" marB="30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Scales well with YARN and Hadoop ecosystem</a:t>
                      </a:r>
                    </a:p>
                  </a:txBody>
                  <a:tcPr marL="61002" marR="61002" marT="30501" marB="30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dirty="0">
                          <a:effectLst/>
                          <a:latin typeface="Arial" panose="020B0604020202020204" pitchFamily="34" charset="0"/>
                        </a:rPr>
                        <a:t>Scales horizontally within Google's infrastructure</a:t>
                      </a:r>
                    </a:p>
                  </a:txBody>
                  <a:tcPr marL="61002" marR="61002" marT="30501" marB="30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5073999"/>
                  </a:ext>
                </a:extLst>
              </a:tr>
              <a:tr h="39187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 dirty="0">
                          <a:effectLst/>
                          <a:latin typeface="Arial" panose="020B0604020202020204" pitchFamily="34" charset="0"/>
                        </a:rPr>
                        <a:t>Open Source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002" marR="61002" marT="30501" marB="30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✅ Yes</a:t>
                      </a:r>
                    </a:p>
                  </a:txBody>
                  <a:tcPr marL="61002" marR="61002" marT="30501" marB="30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dirty="0">
                          <a:effectLst/>
                          <a:latin typeface="Arial" panose="020B0604020202020204" pitchFamily="34" charset="0"/>
                        </a:rPr>
                        <a:t>❌ No (proprietary)</a:t>
                      </a:r>
                    </a:p>
                  </a:txBody>
                  <a:tcPr marL="61002" marR="61002" marT="30501" marB="30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47439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79345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B12954-B9DB-D894-5A00-F9C9A8240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DC2159-E587-A6A1-FF44-41236F355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031002"/>
            <a:ext cx="5852160" cy="873998"/>
          </a:xfrm>
        </p:spPr>
        <p:txBody>
          <a:bodyPr anchor="t">
            <a:normAutofit/>
          </a:bodyPr>
          <a:lstStyle/>
          <a:p>
            <a:r>
              <a:rPr lang="en-US" b="1" dirty="0"/>
              <a:t>Key Design Differences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628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>
            <a:extLst>
              <a:ext uri="{FF2B5EF4-FFF2-40B4-BE49-F238E27FC236}">
                <a16:creationId xmlns:a16="http://schemas.microsoft.com/office/drawing/2014/main" id="{5D4AAB33-07F7-20B8-59BF-E41EF6C85B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0080" y="2062002"/>
            <a:ext cx="6294120" cy="462454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algn="just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Tx/>
              <a:buFont typeface="Wingdings" panose="05000000000000000000" pitchFamily="2" charset="2"/>
              <a:buChar char="§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Access Model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</a:p>
          <a:p>
            <a:pPr marL="685800" algn="just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HDFS is optimized for batch processing and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MapReduce jobs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685800" algn="just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GFS is designed for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append-heavy workloads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with many concurrent clients.</a:t>
            </a:r>
          </a:p>
          <a:p>
            <a:pPr algn="just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Tx/>
              <a:buFont typeface="Wingdings" panose="05000000000000000000" pitchFamily="2" charset="2"/>
              <a:buChar char="§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Chunk vs. Block Management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</a:p>
          <a:p>
            <a:pPr marL="685800" algn="just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HDFS uses larger default block sizes to optimize I/O throughput.</a:t>
            </a:r>
          </a:p>
          <a:p>
            <a:pPr marL="685800" algn="just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GFS chunks are slightly smaller but use versioning to manage consistency.</a:t>
            </a:r>
          </a:p>
          <a:p>
            <a:pPr algn="just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Tx/>
              <a:buFont typeface="Wingdings" panose="05000000000000000000" pitchFamily="2" charset="2"/>
              <a:buChar char="§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Metadata Handling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</a:p>
          <a:p>
            <a:pPr marL="685800" algn="just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Both store metadata in memory, but HDFS has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HA (High Availability) configurations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whereas GFS relies on periodic checkpoints and logs.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 descr="Light blue 3D cubes suspended on the air with a dark blue 3D cube on the surface">
            <a:extLst>
              <a:ext uri="{FF2B5EF4-FFF2-40B4-BE49-F238E27FC236}">
                <a16:creationId xmlns:a16="http://schemas.microsoft.com/office/drawing/2014/main" id="{0DBDE60C-BBA1-1939-5F5F-3275437B16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15" r="55335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66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087246-0B36-9015-1C2B-E4BCE9BD1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2CE30F-2B1B-E047-1FDC-F249BA302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904" y="914400"/>
            <a:ext cx="4261104" cy="1097280"/>
          </a:xfrm>
        </p:spPr>
        <p:txBody>
          <a:bodyPr anchor="t">
            <a:normAutofit/>
          </a:bodyPr>
          <a:lstStyle/>
          <a:p>
            <a:r>
              <a:rPr lang="en-US" sz="3300" b="1"/>
              <a:t>Introduction to Distributed Databases</a:t>
            </a:r>
            <a:endParaRPr lang="en-US" sz="3300"/>
          </a:p>
        </p:txBody>
      </p:sp>
      <p:pic>
        <p:nvPicPr>
          <p:cNvPr id="5" name="Picture 4" descr="A 3D pattern of ring shapes connected by lines">
            <a:extLst>
              <a:ext uri="{FF2B5EF4-FFF2-40B4-BE49-F238E27FC236}">
                <a16:creationId xmlns:a16="http://schemas.microsoft.com/office/drawing/2014/main" id="{4C1BD589-3B60-23C3-65E4-C3D2135E71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0050" b="-2"/>
          <a:stretch>
            <a:fillRect/>
          </a:stretch>
        </p:blipFill>
        <p:spPr>
          <a:xfrm>
            <a:off x="-1" y="914399"/>
            <a:ext cx="6657255" cy="5353523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052531-D50B-3899-B150-D05525F4F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6267922"/>
            <a:ext cx="6656832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8216D-558D-CD5E-7793-6DC9A8C11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9905" y="2176036"/>
            <a:ext cx="4261104" cy="4121887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A Distributed Database is a collection of multiple, logically interrelated databases distributed over a network. They are managed by a Distributed Database Management System (DDBMS).</a:t>
            </a:r>
          </a:p>
        </p:txBody>
      </p:sp>
    </p:spTree>
    <p:extLst>
      <p:ext uri="{BB962C8B-B14F-4D97-AF65-F5344CB8AC3E}">
        <p14:creationId xmlns:p14="http://schemas.microsoft.com/office/powerpoint/2010/main" val="38280955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7C5729-D275-DACF-561C-96C014F36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165007-1FCA-0862-8F2A-D52A02C1B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en-US" dirty="0"/>
              <a:t>Types of Distributed Databases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0C0CFBF-1468-516A-75E0-6103A116A9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4541364"/>
              </p:ext>
            </p:extLst>
          </p:nvPr>
        </p:nvGraphicFramePr>
        <p:xfrm>
          <a:off x="640079" y="2832254"/>
          <a:ext cx="10890930" cy="3192457"/>
        </p:xfrm>
        <a:graphic>
          <a:graphicData uri="http://schemas.openxmlformats.org/drawingml/2006/table">
            <a:tbl>
              <a:tblPr/>
              <a:tblGrid>
                <a:gridCol w="3597979">
                  <a:extLst>
                    <a:ext uri="{9D8B030D-6E8A-4147-A177-3AD203B41FA5}">
                      <a16:colId xmlns:a16="http://schemas.microsoft.com/office/drawing/2014/main" val="1809422774"/>
                    </a:ext>
                  </a:extLst>
                </a:gridCol>
                <a:gridCol w="7292951">
                  <a:extLst>
                    <a:ext uri="{9D8B030D-6E8A-4147-A177-3AD203B41FA5}">
                      <a16:colId xmlns:a16="http://schemas.microsoft.com/office/drawing/2014/main" val="2015843407"/>
                    </a:ext>
                  </a:extLst>
                </a:gridCol>
              </a:tblGrid>
              <a:tr h="73160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300" b="0" i="0" u="none" strike="noStrike" dirty="0">
                          <a:effectLst/>
                          <a:latin typeface="Arial" panose="020B0604020202020204" pitchFamily="34" charset="0"/>
                        </a:rPr>
                        <a:t>Type</a:t>
                      </a:r>
                    </a:p>
                  </a:txBody>
                  <a:tcPr marL="166274" marR="166274" marT="83137" marB="831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300" b="0" i="0" u="none" strike="noStrike" dirty="0">
                          <a:effectLst/>
                          <a:latin typeface="Arial" panose="020B0604020202020204" pitchFamily="34" charset="0"/>
                        </a:rPr>
                        <a:t>Description</a:t>
                      </a:r>
                    </a:p>
                  </a:txBody>
                  <a:tcPr marL="166274" marR="166274" marT="83137" marB="831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3900421"/>
                  </a:ext>
                </a:extLst>
              </a:tr>
              <a:tr h="12304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300" b="1" i="0" u="none" strike="noStrike">
                          <a:effectLst/>
                          <a:latin typeface="Arial" panose="020B0604020202020204" pitchFamily="34" charset="0"/>
                        </a:rPr>
                        <a:t>Homogeneous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6274" marR="166274" marT="83137" marB="831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300" b="0" i="0" u="none" strike="noStrike" dirty="0">
                          <a:effectLst/>
                          <a:latin typeface="Arial" panose="020B0604020202020204" pitchFamily="34" charset="0"/>
                        </a:rPr>
                        <a:t>All sites use the same DBMS and schema. Easier to manage.</a:t>
                      </a:r>
                    </a:p>
                  </a:txBody>
                  <a:tcPr marL="166274" marR="166274" marT="83137" marB="831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2607580"/>
                  </a:ext>
                </a:extLst>
              </a:tr>
              <a:tr h="12304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300" b="1" i="0" u="none" strike="noStrike">
                          <a:effectLst/>
                          <a:latin typeface="Arial" panose="020B0604020202020204" pitchFamily="34" charset="0"/>
                        </a:rPr>
                        <a:t>Heterogeneous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6274" marR="166274" marT="83137" marB="831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300" b="0" i="0" u="none" strike="noStrike" dirty="0">
                          <a:effectLst/>
                          <a:latin typeface="Arial" panose="020B0604020202020204" pitchFamily="34" charset="0"/>
                        </a:rPr>
                        <a:t>Sites may run different DBMS and schemas. More flexible but complex.</a:t>
                      </a:r>
                    </a:p>
                  </a:txBody>
                  <a:tcPr marL="166274" marR="166274" marT="83137" marB="831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87534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40281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30D06A-BA80-892E-06F1-544573EE0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en-US" dirty="0"/>
              <a:t>Centralized vs Distributed DBMS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3DEDBC3-7F77-7BB2-CF8D-07E187509A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9359779"/>
              </p:ext>
            </p:extLst>
          </p:nvPr>
        </p:nvGraphicFramePr>
        <p:xfrm>
          <a:off x="640079" y="2799162"/>
          <a:ext cx="10890931" cy="3258640"/>
        </p:xfrm>
        <a:graphic>
          <a:graphicData uri="http://schemas.openxmlformats.org/drawingml/2006/table">
            <a:tbl>
              <a:tblPr/>
              <a:tblGrid>
                <a:gridCol w="3081718">
                  <a:extLst>
                    <a:ext uri="{9D8B030D-6E8A-4147-A177-3AD203B41FA5}">
                      <a16:colId xmlns:a16="http://schemas.microsoft.com/office/drawing/2014/main" val="3304470279"/>
                    </a:ext>
                  </a:extLst>
                </a:gridCol>
                <a:gridCol w="3554879">
                  <a:extLst>
                    <a:ext uri="{9D8B030D-6E8A-4147-A177-3AD203B41FA5}">
                      <a16:colId xmlns:a16="http://schemas.microsoft.com/office/drawing/2014/main" val="3326305948"/>
                    </a:ext>
                  </a:extLst>
                </a:gridCol>
                <a:gridCol w="4254334">
                  <a:extLst>
                    <a:ext uri="{9D8B030D-6E8A-4147-A177-3AD203B41FA5}">
                      <a16:colId xmlns:a16="http://schemas.microsoft.com/office/drawing/2014/main" val="654139073"/>
                    </a:ext>
                  </a:extLst>
                </a:gridCol>
              </a:tblGrid>
              <a:tr h="65172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900" b="0" i="0" u="none" strike="noStrike" dirty="0">
                          <a:effectLst/>
                          <a:latin typeface="Arial" panose="020B0604020202020204" pitchFamily="34" charset="0"/>
                        </a:rPr>
                        <a:t>Feature</a:t>
                      </a:r>
                    </a:p>
                  </a:txBody>
                  <a:tcPr marL="148120" marR="148120" marT="74060" marB="740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900" b="0" i="0" u="none" strike="noStrike" dirty="0">
                          <a:effectLst/>
                          <a:latin typeface="Arial" panose="020B0604020202020204" pitchFamily="34" charset="0"/>
                        </a:rPr>
                        <a:t>Centralized DBMS</a:t>
                      </a:r>
                    </a:p>
                  </a:txBody>
                  <a:tcPr marL="148120" marR="148120" marT="74060" marB="740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900" b="0" i="0" u="none" strike="noStrike" dirty="0">
                          <a:effectLst/>
                          <a:latin typeface="Arial" panose="020B0604020202020204" pitchFamily="34" charset="0"/>
                        </a:rPr>
                        <a:t>Distributed DBMS</a:t>
                      </a:r>
                    </a:p>
                  </a:txBody>
                  <a:tcPr marL="148120" marR="148120" marT="74060" marB="740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646473"/>
                  </a:ext>
                </a:extLst>
              </a:tr>
              <a:tr h="65172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900" b="0" i="0" u="none" strike="noStrike">
                          <a:effectLst/>
                          <a:latin typeface="Arial" panose="020B0604020202020204" pitchFamily="34" charset="0"/>
                        </a:rPr>
                        <a:t>Data Location</a:t>
                      </a:r>
                    </a:p>
                  </a:txBody>
                  <a:tcPr marL="148120" marR="148120" marT="74060" marB="740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900" b="0" i="0" u="none" strike="noStrike">
                          <a:effectLst/>
                          <a:latin typeface="Arial" panose="020B0604020202020204" pitchFamily="34" charset="0"/>
                        </a:rPr>
                        <a:t>Single site</a:t>
                      </a:r>
                    </a:p>
                  </a:txBody>
                  <a:tcPr marL="148120" marR="148120" marT="74060" marB="740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900" b="0" i="0" u="none" strike="noStrike">
                          <a:effectLst/>
                          <a:latin typeface="Arial" panose="020B0604020202020204" pitchFamily="34" charset="0"/>
                        </a:rPr>
                        <a:t>Multiple sites</a:t>
                      </a:r>
                    </a:p>
                  </a:txBody>
                  <a:tcPr marL="148120" marR="148120" marT="74060" marB="740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658812"/>
                  </a:ext>
                </a:extLst>
              </a:tr>
              <a:tr h="65172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900" b="0" i="0" u="none" strike="noStrike">
                          <a:effectLst/>
                          <a:latin typeface="Arial" panose="020B0604020202020204" pitchFamily="34" charset="0"/>
                        </a:rPr>
                        <a:t>Availability</a:t>
                      </a:r>
                    </a:p>
                  </a:txBody>
                  <a:tcPr marL="148120" marR="148120" marT="74060" marB="740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900" b="0" i="0" u="none" strike="noStrike">
                          <a:effectLst/>
                          <a:latin typeface="Arial" panose="020B0604020202020204" pitchFamily="34" charset="0"/>
                        </a:rPr>
                        <a:t>Lower</a:t>
                      </a:r>
                    </a:p>
                  </a:txBody>
                  <a:tcPr marL="148120" marR="148120" marT="74060" marB="740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900" b="0" i="0" u="none" strike="noStrike">
                          <a:effectLst/>
                          <a:latin typeface="Arial" panose="020B0604020202020204" pitchFamily="34" charset="0"/>
                        </a:rPr>
                        <a:t>Higher</a:t>
                      </a:r>
                    </a:p>
                  </a:txBody>
                  <a:tcPr marL="148120" marR="148120" marT="74060" marB="740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1322018"/>
                  </a:ext>
                </a:extLst>
              </a:tr>
              <a:tr h="65172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900" b="0" i="0" u="none" strike="noStrike">
                          <a:effectLst/>
                          <a:latin typeface="Arial" panose="020B0604020202020204" pitchFamily="34" charset="0"/>
                        </a:rPr>
                        <a:t>Fault Tolerance</a:t>
                      </a:r>
                    </a:p>
                  </a:txBody>
                  <a:tcPr marL="148120" marR="148120" marT="74060" marB="740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900" b="0" i="0" u="none" strike="noStrike">
                          <a:effectLst/>
                          <a:latin typeface="Arial" panose="020B0604020202020204" pitchFamily="34" charset="0"/>
                        </a:rPr>
                        <a:t>Minimal</a:t>
                      </a:r>
                    </a:p>
                  </a:txBody>
                  <a:tcPr marL="148120" marR="148120" marT="74060" marB="740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900" b="0" i="0" u="none" strike="noStrike" dirty="0">
                          <a:effectLst/>
                          <a:latin typeface="Arial" panose="020B0604020202020204" pitchFamily="34" charset="0"/>
                        </a:rPr>
                        <a:t>Built-in via redundancy</a:t>
                      </a:r>
                    </a:p>
                  </a:txBody>
                  <a:tcPr marL="148120" marR="148120" marT="74060" marB="740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8839143"/>
                  </a:ext>
                </a:extLst>
              </a:tr>
              <a:tr h="65172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900" b="0" i="0" u="none" strike="noStrike">
                          <a:effectLst/>
                          <a:latin typeface="Arial" panose="020B0604020202020204" pitchFamily="34" charset="0"/>
                        </a:rPr>
                        <a:t>Scalability</a:t>
                      </a:r>
                    </a:p>
                  </a:txBody>
                  <a:tcPr marL="148120" marR="148120" marT="74060" marB="740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900" b="0" i="0" u="none" strike="noStrike">
                          <a:effectLst/>
                          <a:latin typeface="Arial" panose="020B0604020202020204" pitchFamily="34" charset="0"/>
                        </a:rPr>
                        <a:t>Limited</a:t>
                      </a:r>
                    </a:p>
                  </a:txBody>
                  <a:tcPr marL="148120" marR="148120" marT="74060" marB="740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900" b="0" i="0" u="none" strike="noStrike" dirty="0">
                          <a:effectLst/>
                          <a:latin typeface="Arial" panose="020B0604020202020204" pitchFamily="34" charset="0"/>
                        </a:rPr>
                        <a:t>High</a:t>
                      </a:r>
                    </a:p>
                  </a:txBody>
                  <a:tcPr marL="148120" marR="148120" marT="74060" marB="740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40997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6036151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996</Words>
  <Application>Microsoft Office PowerPoint</Application>
  <PresentationFormat>Widescreen</PresentationFormat>
  <Paragraphs>168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Grandview Display</vt:lpstr>
      <vt:lpstr>Wingdings</vt:lpstr>
      <vt:lpstr>DashVTI</vt:lpstr>
      <vt:lpstr>Parallel &amp; Distributed Computing</vt:lpstr>
      <vt:lpstr>Introduction to Distributed Storage</vt:lpstr>
      <vt:lpstr>Example Use Cases</vt:lpstr>
      <vt:lpstr>PowerPoint Presentation</vt:lpstr>
      <vt:lpstr>Distributed File System (DFS)</vt:lpstr>
      <vt:lpstr>Core Functions of DFS</vt:lpstr>
      <vt:lpstr>Design Principles</vt:lpstr>
      <vt:lpstr>Example Features</vt:lpstr>
      <vt:lpstr>Real-World Use Cases</vt:lpstr>
      <vt:lpstr>PowerPoint Presentation</vt:lpstr>
      <vt:lpstr>Hadoop Distributed File System (HDFS)</vt:lpstr>
      <vt:lpstr>HDFS Architecture</vt:lpstr>
      <vt:lpstr>Data Flow in HDFS</vt:lpstr>
      <vt:lpstr>Use Cases of HDFS</vt:lpstr>
      <vt:lpstr>PowerPoint Presentation</vt:lpstr>
      <vt:lpstr>Google File System (GFS)</vt:lpstr>
      <vt:lpstr>GFS Architecture</vt:lpstr>
      <vt:lpstr>GFS Data Operations</vt:lpstr>
      <vt:lpstr>PowerPoint Presentation</vt:lpstr>
      <vt:lpstr>HDFS vs GFS</vt:lpstr>
      <vt:lpstr>Key Design Differences</vt:lpstr>
      <vt:lpstr>Introduction to Distributed Databases</vt:lpstr>
      <vt:lpstr>Types of Distributed Databases</vt:lpstr>
      <vt:lpstr>Centralized vs Distributed DBMS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Akbar</dc:creator>
  <cp:lastModifiedBy>Ali Akbar</cp:lastModifiedBy>
  <cp:revision>1</cp:revision>
  <dcterms:created xsi:type="dcterms:W3CDTF">2025-05-27T09:46:50Z</dcterms:created>
  <dcterms:modified xsi:type="dcterms:W3CDTF">2025-05-27T10:28:30Z</dcterms:modified>
</cp:coreProperties>
</file>