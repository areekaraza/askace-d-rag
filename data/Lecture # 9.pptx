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1" d="100"/>
          <a:sy n="71" d="100"/>
        </p:scale>
        <p:origin x="121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Akbar" userId="7ad23ff2803fa24b" providerId="LiveId" clId="{C4351933-2A4C-47CB-9427-2FB4092BE455}"/>
    <pc:docChg chg="modSld">
      <pc:chgData name="Ali Akbar" userId="7ad23ff2803fa24b" providerId="LiveId" clId="{C4351933-2A4C-47CB-9427-2FB4092BE455}" dt="2025-12-22T09:23:22.655" v="12" actId="1036"/>
      <pc:docMkLst>
        <pc:docMk/>
      </pc:docMkLst>
      <pc:sldChg chg="modSp mod">
        <pc:chgData name="Ali Akbar" userId="7ad23ff2803fa24b" providerId="LiveId" clId="{C4351933-2A4C-47CB-9427-2FB4092BE455}" dt="2025-12-22T09:23:22.655" v="12" actId="1036"/>
        <pc:sldMkLst>
          <pc:docMk/>
          <pc:sldMk cId="608406350" sldId="262"/>
        </pc:sldMkLst>
        <pc:picChg chg="mod">
          <ac:chgData name="Ali Akbar" userId="7ad23ff2803fa24b" providerId="LiveId" clId="{C4351933-2A4C-47CB-9427-2FB4092BE455}" dt="2025-12-22T09:23:22.655" v="12" actId="1036"/>
          <ac:picMkLst>
            <pc:docMk/>
            <pc:sldMk cId="608406350" sldId="262"/>
            <ac:picMk id="5" creationId="{56577D79-AAD3-7831-A436-7276CA258A7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4383E-CB8E-3A6A-74F3-300F329A4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63635-B9A0-7F68-6D28-06C924C40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9AB2A-857E-7A62-DEF7-98532E835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E23E-7177-47A9-B965-89DD86383F7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5CBBC-B8C3-2953-A74B-B5028EE21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9B63A-BA4F-ABAA-7B8D-03DE7A5A0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0EBF-D5A8-490C-BEF0-BBB8DD095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6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74DA8-8060-5DED-1034-3CDE27D0D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05F60-E53C-EC80-CCC2-827DD1DB8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96D8A-2175-078B-CADB-EE262646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E23E-7177-47A9-B965-89DD86383F7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A8B5C-90E3-E615-3A6B-08C5F058B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488F9-DE89-47A0-BDE1-93B156018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0EBF-D5A8-490C-BEF0-BBB8DD095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90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46E6B-32A8-EC4C-0D85-64FA55897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FD5F4-3974-1741-D563-E92A788C3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27D0F-B368-10BC-79E4-3745E90E2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E23E-7177-47A9-B965-89DD86383F7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D8939-B75E-A73B-773F-7F2DE60AC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411D6-698C-D9B0-6E19-903122BE3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0EBF-D5A8-490C-BEF0-BBB8DD095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42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91C56-BA06-6CC2-D17F-EA7E8B48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061C6-AA47-7F5F-24C9-A7FF15AA1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0B000-9341-8FB8-AAA9-C5D207502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1C4AB-84D6-BBDB-D8B1-0B9D6B5AC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E23E-7177-47A9-B965-89DD86383F7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9C6FA-D69F-A61B-1902-82056AFEA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11F8E-71FE-2CB1-AFC8-75103D1D7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0EBF-D5A8-490C-BEF0-BBB8DD095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4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05A7D-9642-1899-D139-6080C2C9B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AD1AC-51F6-2090-8834-96B6D4020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5E5F7-5343-69A6-CEBB-3C1EA660FF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8A341D-FA97-641A-9AB4-C308A76BE7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411727-342D-C7CB-18D2-9A9CA122A5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A3FC40-97D7-CE26-D62B-4EA2DB695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E23E-7177-47A9-B965-89DD86383F7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5DFD1B-A350-8CDA-C566-7112D582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5DECAB-699B-8398-E936-5A9D0EA26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0EBF-D5A8-490C-BEF0-BBB8DD095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96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88799-85FD-1E4F-EA32-4159AF9A4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A1B703-2AD4-B08E-3E11-AF3C802AC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E23E-7177-47A9-B965-89DD86383F7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39F8B-D0BB-946A-6966-89AAF2EFE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CF091F-B3FD-F580-2665-B7E1751A3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0EBF-D5A8-490C-BEF0-BBB8DD095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41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00C39E-9AB6-1FAF-685C-793C68CF2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E23E-7177-47A9-B965-89DD86383F7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155048-9481-45A6-C85D-AAE7F9AA6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EAB4F-A31E-6BA9-CC0F-A5E4E9084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0EBF-D5A8-490C-BEF0-BBB8DD095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99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65595-4122-A7A5-3C44-F89D50D97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D53FE-ADD5-F89F-EBE3-1E9853A90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F6E4F3-F10E-73E6-CCA1-C7E221D67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36085-C50C-97A9-E58A-B377A69A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E23E-7177-47A9-B965-89DD86383F7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AF12D0-A337-5E12-55E9-6A533FDFD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4F6683-F07F-7C47-4DE1-8764D18DF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0EBF-D5A8-490C-BEF0-BBB8DD095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94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68125-E460-E3E8-B415-8130CAE78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9D0894-EC65-AEB0-B2DC-BCFCC0406C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1838C-413F-A82F-8488-B8ADD1AFC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052DF-7F85-DB6D-1647-85C801A87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E23E-7177-47A9-B965-89DD86383F7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361ED-0D8E-A7DF-6117-593AC5E48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F697B-CA5C-A6FC-5892-A3FBA5C00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0EBF-D5A8-490C-BEF0-BBB8DD095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72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F47F7-F744-CC7E-B9C4-54839C508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6B7F0C-AB32-F137-EC10-F879CA916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75EA2-BFD7-DEE1-42B7-21D369E5D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E23E-7177-47A9-B965-89DD86383F7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E7FD8-0CBE-197A-5669-24031594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B461D-3A38-CD30-133C-F11FD090D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0EBF-D5A8-490C-BEF0-BBB8DD095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37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F8855B-C108-9CE2-A803-BB6EE5DD58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D7F96-BCC1-034D-5EA6-78F08BFDF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EF5FF-DEF3-3214-8D2F-0C62F66A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E23E-7177-47A9-B965-89DD86383F7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88313-310C-38D8-8920-8D15EB0D3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EBD79-2F6A-D417-39EA-76FA5A26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0EBF-D5A8-490C-BEF0-BBB8DD095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99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7D62B2-8987-2464-3DF1-77114F003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12E71-9817-FB67-50C3-9F75EC234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4F9BF-6D02-36C0-D595-6543EC6D0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0CE23E-7177-47A9-B965-89DD86383F7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3BE0-934F-94D6-C2AD-BB6DBDD091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8510C-56C9-E733-F896-DDF9E3DD5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A0EBF-D5A8-490C-BEF0-BBB8DD095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11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1DA3C2-BE63-E455-5D47-063CC97FE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6200">
                <a:solidFill>
                  <a:srgbClr val="FFFFFF"/>
                </a:solidFill>
              </a:rPr>
              <a:t>Parallel &amp; Distributed Computing</a:t>
            </a:r>
            <a:br>
              <a:rPr lang="en-US" sz="6200">
                <a:solidFill>
                  <a:srgbClr val="FFFFFF"/>
                </a:solidFill>
              </a:rPr>
            </a:br>
            <a:br>
              <a:rPr lang="en-US" sz="6200">
                <a:solidFill>
                  <a:srgbClr val="FFFFFF"/>
                </a:solidFill>
              </a:rPr>
            </a:br>
            <a:r>
              <a:rPr lang="en-US" sz="6200">
                <a:solidFill>
                  <a:srgbClr val="FFFFFF"/>
                </a:solidFill>
              </a:rPr>
              <a:t>Lecture #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537BEC-6DAE-BC25-5B58-03F78D0FA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4784" y="5691295"/>
            <a:ext cx="8578699" cy="1028177"/>
          </a:xfrm>
        </p:spPr>
        <p:txBody>
          <a:bodyPr>
            <a:noAutofit/>
          </a:bodyPr>
          <a:lstStyle/>
          <a:p>
            <a:pPr algn="l"/>
            <a:r>
              <a:rPr lang="en-US" sz="1800" dirty="0">
                <a:solidFill>
                  <a:srgbClr val="FFFFFF"/>
                </a:solidFill>
              </a:rPr>
              <a:t>By, </a:t>
            </a:r>
          </a:p>
          <a:p>
            <a:pPr algn="l"/>
            <a:r>
              <a:rPr lang="en-US" sz="1800" dirty="0">
                <a:solidFill>
                  <a:srgbClr val="FFFFFF"/>
                </a:solidFill>
              </a:rPr>
              <a:t>Dr. Ali Akbar Siddique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439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81CD39-2FF4-73F0-8740-8E6A991F5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Introduction to Divide and Conquer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4091B-4897-91F2-F02E-ED48A98C3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algn="just"/>
            <a:r>
              <a:rPr lang="en-US" sz="2400" dirty="0"/>
              <a:t>The Divide and Conquer approach is a fundamental algorithmic strategy used to solve complex problems by breaking them down into simpler subproblems, solving each subproblem independently, and then combining their results to form a solution to the original problem.</a:t>
            </a:r>
          </a:p>
        </p:txBody>
      </p:sp>
      <p:pic>
        <p:nvPicPr>
          <p:cNvPr id="5" name="Picture 4" descr="3D spheres connected with a red line">
            <a:extLst>
              <a:ext uri="{FF2B5EF4-FFF2-40B4-BE49-F238E27FC236}">
                <a16:creationId xmlns:a16="http://schemas.microsoft.com/office/drawing/2014/main" id="{2CB95B39-08CB-EA97-D270-C4D12E2E8F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21" r="17935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9905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9A3C9C-A68D-3904-0231-ACDCC6B4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Core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D576D-27C3-7A51-F1CD-9EACD7A9F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432" y="97536"/>
            <a:ext cx="6021775" cy="6656832"/>
          </a:xfrm>
        </p:spPr>
        <p:txBody>
          <a:bodyPr anchor="ctr">
            <a:normAutofit lnSpcReduction="10000"/>
          </a:bodyPr>
          <a:lstStyle/>
          <a:p>
            <a:pPr algn="just">
              <a:buNone/>
            </a:pPr>
            <a:r>
              <a:rPr lang="en-US" sz="2400" dirty="0"/>
              <a:t>The method works in </a:t>
            </a:r>
            <a:r>
              <a:rPr lang="en-US" sz="2400" b="1" dirty="0"/>
              <a:t>three main steps</a:t>
            </a:r>
            <a:r>
              <a:rPr lang="en-US" sz="2400" dirty="0"/>
              <a:t>: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/>
              <a:t>Divide</a:t>
            </a:r>
            <a:endParaRPr lang="en-US" sz="2400" dirty="0"/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/>
              <a:t>Break the original problem into </a:t>
            </a:r>
            <a:r>
              <a:rPr lang="en-US" b="1" dirty="0"/>
              <a:t>smaller</a:t>
            </a:r>
            <a:r>
              <a:rPr lang="en-US" dirty="0"/>
              <a:t>, </a:t>
            </a:r>
            <a:r>
              <a:rPr lang="en-US" b="1" dirty="0"/>
              <a:t>manageable subproblems</a:t>
            </a:r>
            <a:r>
              <a:rPr lang="en-US" dirty="0"/>
              <a:t>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/>
              <a:t>Ideally, the subproblems should be of the same type as the original problem.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/>
              <a:t>The division continues </a:t>
            </a:r>
            <a:r>
              <a:rPr lang="en-US" b="1" dirty="0"/>
              <a:t>recursively</a:t>
            </a:r>
            <a:r>
              <a:rPr lang="en-US" dirty="0"/>
              <a:t> until the subproblems become </a:t>
            </a:r>
            <a:r>
              <a:rPr lang="en-US" b="1" dirty="0"/>
              <a:t>simple enough</a:t>
            </a:r>
            <a:r>
              <a:rPr lang="en-US" dirty="0"/>
              <a:t> to solve directly.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/>
              <a:t>Conquer</a:t>
            </a:r>
            <a:endParaRPr lang="en-US" sz="2400" dirty="0"/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/>
              <a:t>Solve each subproblem </a:t>
            </a:r>
            <a:r>
              <a:rPr lang="en-US" b="1" dirty="0"/>
              <a:t>recursively</a:t>
            </a:r>
            <a:r>
              <a:rPr lang="en-US" dirty="0"/>
              <a:t>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/>
              <a:t>If the subproblem size is small enough (base case), solve it </a:t>
            </a:r>
            <a:r>
              <a:rPr lang="en-US" b="1" dirty="0"/>
              <a:t>directly</a:t>
            </a:r>
            <a:r>
              <a:rPr lang="en-US" dirty="0"/>
              <a:t> (non-recursively).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/>
              <a:t>Combine</a:t>
            </a:r>
            <a:endParaRPr lang="en-US" sz="2400" dirty="0"/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/>
              <a:t>Integrate the solutions of the subproblems into a </a:t>
            </a:r>
            <a:r>
              <a:rPr lang="en-US" b="1" dirty="0"/>
              <a:t>final solution</a:t>
            </a:r>
            <a:r>
              <a:rPr lang="en-US" dirty="0"/>
              <a:t>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/>
              <a:t>This step depends heavily on the nature of the original problem.</a:t>
            </a:r>
          </a:p>
        </p:txBody>
      </p:sp>
    </p:spTree>
    <p:extLst>
      <p:ext uri="{BB962C8B-B14F-4D97-AF65-F5344CB8AC3E}">
        <p14:creationId xmlns:p14="http://schemas.microsoft.com/office/powerpoint/2010/main" val="1740700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ivide and Conquer in Data Structures">
            <a:extLst>
              <a:ext uri="{FF2B5EF4-FFF2-40B4-BE49-F238E27FC236}">
                <a16:creationId xmlns:a16="http://schemas.microsoft.com/office/drawing/2014/main" id="{5D278D4D-0D3C-E7D0-A74F-8E73C7B516C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54667" y="643467"/>
            <a:ext cx="9482665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374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at is Divide and Conquer Algorithm | Learn DSA | by Ankit Maheshwari |  Medium | Medium">
            <a:extLst>
              <a:ext uri="{FF2B5EF4-FFF2-40B4-BE49-F238E27FC236}">
                <a16:creationId xmlns:a16="http://schemas.microsoft.com/office/drawing/2014/main" id="{F285B9EC-E510-FCA8-467F-37C67DD67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599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1A9621-B134-E8A9-1165-7B22D872F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517" y="0"/>
            <a:ext cx="95883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539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577D79-AAD3-7831-A436-7276CA258A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797" r="-1" b="-1"/>
          <a:stretch>
            <a:fillRect/>
          </a:stretch>
        </p:blipFill>
        <p:spPr>
          <a:xfrm>
            <a:off x="17758" y="147917"/>
            <a:ext cx="12228129" cy="466692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7B3-245B-CDC7-F98B-0B9D62955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4143157"/>
            <a:ext cx="10558458" cy="1917815"/>
          </a:xfrm>
        </p:spPr>
        <p:txBody>
          <a:bodyPr anchor="ctr">
            <a:normAutofit/>
          </a:bodyPr>
          <a:lstStyle/>
          <a:p>
            <a:pPr algn="just"/>
            <a:r>
              <a:rPr lang="en-US" sz="2400" b="1" i="0" dirty="0">
                <a:solidFill>
                  <a:schemeClr val="tx2"/>
                </a:solidFill>
                <a:effectLst/>
                <a:latin typeface="Nunito" pitchFamily="2" charset="0"/>
              </a:rPr>
              <a:t>Binary Search</a:t>
            </a:r>
            <a:r>
              <a:rPr lang="en-US" sz="2400" b="0" i="0" dirty="0">
                <a:solidFill>
                  <a:schemeClr val="tx2"/>
                </a:solidFill>
                <a:effectLst/>
                <a:latin typeface="Nunito" pitchFamily="2" charset="0"/>
              </a:rPr>
              <a:t> </a:t>
            </a:r>
            <a:r>
              <a:rPr lang="en-US" sz="2400" b="1" i="0" dirty="0">
                <a:solidFill>
                  <a:schemeClr val="tx2"/>
                </a:solidFill>
                <a:effectLst/>
                <a:latin typeface="Nunito" pitchFamily="2" charset="0"/>
              </a:rPr>
              <a:t>Algorithm </a:t>
            </a:r>
            <a:r>
              <a:rPr lang="en-US" sz="2400" b="0" i="0" dirty="0">
                <a:solidFill>
                  <a:schemeClr val="tx2"/>
                </a:solidFill>
                <a:effectLst/>
                <a:latin typeface="Nunito" pitchFamily="2" charset="0"/>
              </a:rPr>
              <a:t>is a searching algorithm used in a sorted array by </a:t>
            </a:r>
            <a:r>
              <a:rPr lang="en-US" sz="2400" b="1" i="0" dirty="0">
                <a:solidFill>
                  <a:schemeClr val="tx2"/>
                </a:solidFill>
                <a:effectLst/>
                <a:latin typeface="Nunito" pitchFamily="2" charset="0"/>
              </a:rPr>
              <a:t>r</a:t>
            </a:r>
            <a:r>
              <a:rPr lang="en-US" sz="2400" b="0" i="0" dirty="0">
                <a:solidFill>
                  <a:schemeClr val="tx2"/>
                </a:solidFill>
                <a:effectLst/>
                <a:latin typeface="Nunito" pitchFamily="2" charset="0"/>
              </a:rPr>
              <a:t>epeatedly dividing the search interval in half.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406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D2F73-83E8-9969-3564-9DD5D7F64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521" y="144081"/>
            <a:ext cx="6325643" cy="1708242"/>
          </a:xfrm>
        </p:spPr>
        <p:txBody>
          <a:bodyPr anchor="ctr">
            <a:normAutofit/>
          </a:bodyPr>
          <a:lstStyle/>
          <a:p>
            <a:r>
              <a:rPr lang="en-US" sz="4000" b="1" i="0" dirty="0">
                <a:effectLst/>
                <a:latin typeface="Nunito" pitchFamily="2" charset="0"/>
              </a:rPr>
              <a:t>Binary Search Algorithm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CA781-9D04-5300-77BF-4B4289460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520" y="1538639"/>
            <a:ext cx="5845480" cy="4686797"/>
          </a:xfrm>
        </p:spPr>
        <p:txBody>
          <a:bodyPr anchor="ctr">
            <a:normAutofit fontScale="92500"/>
          </a:bodyPr>
          <a:lstStyle/>
          <a:p>
            <a:pPr rtl="0" fontAlgn="base">
              <a:spcAft>
                <a:spcPts val="750"/>
              </a:spcAft>
              <a:buNone/>
            </a:pPr>
            <a:r>
              <a:rPr lang="en-US" sz="1600" b="0" i="0" dirty="0">
                <a:effectLst/>
                <a:latin typeface="Nunito" pitchFamily="2" charset="0"/>
              </a:rPr>
              <a:t>Below is the step-by-step algorithm for Binary Search:</a:t>
            </a:r>
          </a:p>
          <a:p>
            <a:pPr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Nunito" pitchFamily="2" charset="0"/>
              </a:rPr>
              <a:t>Divide the search space into two halves by </a:t>
            </a:r>
            <a:r>
              <a:rPr lang="en-US" sz="1600" b="1" i="0" dirty="0">
                <a:effectLst/>
                <a:latin typeface="Nunito" pitchFamily="2" charset="0"/>
              </a:rPr>
              <a:t>finding the middle index "mid"</a:t>
            </a:r>
            <a:r>
              <a:rPr lang="en-US" sz="1600" b="0" i="0" dirty="0">
                <a:effectLst/>
                <a:latin typeface="Nunito" pitchFamily="2" charset="0"/>
              </a:rPr>
              <a:t>. </a:t>
            </a:r>
          </a:p>
          <a:p>
            <a:pPr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Nunito" pitchFamily="2" charset="0"/>
              </a:rPr>
              <a:t>Compare the middle element of the search space with the </a:t>
            </a:r>
            <a:r>
              <a:rPr lang="en-US" sz="1600" b="1" i="0" dirty="0">
                <a:effectLst/>
                <a:latin typeface="Nunito" pitchFamily="2" charset="0"/>
              </a:rPr>
              <a:t>key</a:t>
            </a:r>
            <a:r>
              <a:rPr lang="en-US" sz="1600" b="0" i="0" dirty="0">
                <a:effectLst/>
                <a:latin typeface="Nunito" pitchFamily="2" charset="0"/>
              </a:rPr>
              <a:t>. </a:t>
            </a:r>
          </a:p>
          <a:p>
            <a:pPr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Nunito" pitchFamily="2" charset="0"/>
              </a:rPr>
              <a:t>If the </a:t>
            </a:r>
            <a:r>
              <a:rPr lang="en-US" sz="1600" b="1" i="0" dirty="0">
                <a:effectLst/>
                <a:latin typeface="Nunito" pitchFamily="2" charset="0"/>
              </a:rPr>
              <a:t>key </a:t>
            </a:r>
            <a:r>
              <a:rPr lang="en-US" sz="1600" b="0" i="0" dirty="0">
                <a:effectLst/>
                <a:latin typeface="Nunito" pitchFamily="2" charset="0"/>
              </a:rPr>
              <a:t>is found at middle element, the process is terminated.</a:t>
            </a:r>
          </a:p>
          <a:p>
            <a:pPr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Nunito" pitchFamily="2" charset="0"/>
              </a:rPr>
              <a:t>If the </a:t>
            </a:r>
            <a:r>
              <a:rPr lang="en-US" sz="1600" b="1" i="0" dirty="0">
                <a:effectLst/>
                <a:latin typeface="Nunito" pitchFamily="2" charset="0"/>
              </a:rPr>
              <a:t>key </a:t>
            </a:r>
            <a:r>
              <a:rPr lang="en-US" sz="1600" b="0" i="0" dirty="0">
                <a:effectLst/>
                <a:latin typeface="Nunito" pitchFamily="2" charset="0"/>
              </a:rPr>
              <a:t>is not found at middle element, choose which half will be used as the next search space.</a:t>
            </a:r>
          </a:p>
          <a:p>
            <a:pPr marL="742950" lvl="1" indent="-285750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Nunito" pitchFamily="2" charset="0"/>
              </a:rPr>
              <a:t>If the </a:t>
            </a:r>
            <a:r>
              <a:rPr lang="en-US" sz="1600" b="1" i="0" dirty="0">
                <a:effectLst/>
                <a:latin typeface="Nunito" pitchFamily="2" charset="0"/>
              </a:rPr>
              <a:t>key </a:t>
            </a:r>
            <a:r>
              <a:rPr lang="en-US" sz="1600" b="0" i="0" dirty="0">
                <a:effectLst/>
                <a:latin typeface="Nunito" pitchFamily="2" charset="0"/>
              </a:rPr>
              <a:t>is smaller than the middle element, then the </a:t>
            </a:r>
            <a:r>
              <a:rPr lang="en-US" sz="1600" b="1" i="0" dirty="0">
                <a:effectLst/>
                <a:latin typeface="Nunito" pitchFamily="2" charset="0"/>
              </a:rPr>
              <a:t>left </a:t>
            </a:r>
            <a:r>
              <a:rPr lang="en-US" sz="1600" b="0" i="0" dirty="0">
                <a:effectLst/>
                <a:latin typeface="Nunito" pitchFamily="2" charset="0"/>
              </a:rPr>
              <a:t>side is used for next search.</a:t>
            </a:r>
          </a:p>
          <a:p>
            <a:pPr marL="742950" lvl="1" indent="-285750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Nunito" pitchFamily="2" charset="0"/>
              </a:rPr>
              <a:t>If the </a:t>
            </a:r>
            <a:r>
              <a:rPr lang="en-US" sz="1600" b="1" i="0" dirty="0">
                <a:effectLst/>
                <a:latin typeface="Nunito" pitchFamily="2" charset="0"/>
              </a:rPr>
              <a:t>key </a:t>
            </a:r>
            <a:r>
              <a:rPr lang="en-US" sz="1600" b="0" i="0" dirty="0">
                <a:effectLst/>
                <a:latin typeface="Nunito" pitchFamily="2" charset="0"/>
              </a:rPr>
              <a:t>is larger than the middle element, then the </a:t>
            </a:r>
            <a:r>
              <a:rPr lang="en-US" sz="1600" b="1" i="0" dirty="0">
                <a:effectLst/>
                <a:latin typeface="Nunito" pitchFamily="2" charset="0"/>
              </a:rPr>
              <a:t>right </a:t>
            </a:r>
            <a:r>
              <a:rPr lang="en-US" sz="1600" b="0" i="0" dirty="0">
                <a:effectLst/>
                <a:latin typeface="Nunito" pitchFamily="2" charset="0"/>
              </a:rPr>
              <a:t>side is used for next search.</a:t>
            </a:r>
          </a:p>
          <a:p>
            <a:pPr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Nunito" pitchFamily="2" charset="0"/>
              </a:rPr>
              <a:t>This process is continued until the </a:t>
            </a:r>
            <a:r>
              <a:rPr lang="en-US" sz="1600" b="1" i="0" dirty="0">
                <a:effectLst/>
                <a:latin typeface="Nunito" pitchFamily="2" charset="0"/>
              </a:rPr>
              <a:t>key </a:t>
            </a:r>
            <a:r>
              <a:rPr lang="en-US" sz="1600" b="0" i="0" dirty="0">
                <a:effectLst/>
                <a:latin typeface="Nunito" pitchFamily="2" charset="0"/>
              </a:rPr>
              <a:t>is found or the total search space is exhausted.</a:t>
            </a:r>
          </a:p>
        </p:txBody>
      </p:sp>
      <p:pic>
        <p:nvPicPr>
          <p:cNvPr id="5" name="Picture 4" descr="101010 data lines to infinity">
            <a:extLst>
              <a:ext uri="{FF2B5EF4-FFF2-40B4-BE49-F238E27FC236}">
                <a16:creationId xmlns:a16="http://schemas.microsoft.com/office/drawing/2014/main" id="{BEF35590-4BD7-1DE6-DF6B-A596AA7945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11" r="23107" b="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7092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C8A1F-B724-B166-0BE6-B9AE247D5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50975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F2561-FC3F-655C-8F2C-54A4F07A4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0976"/>
            <a:ext cx="10515600" cy="5225987"/>
          </a:xfrm>
        </p:spPr>
        <p:txBody>
          <a:bodyPr/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Consider an array </a:t>
            </a:r>
            <a:r>
              <a:rPr lang="en-US" b="1" i="0" dirty="0" err="1">
                <a:solidFill>
                  <a:srgbClr val="273239"/>
                </a:solidFill>
                <a:effectLst/>
                <a:latin typeface="Nunito" pitchFamily="2" charset="0"/>
              </a:rPr>
              <a:t>arr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[] = {2, 5, 8, 12, 16, 23, 38, 56, 72, 91}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, and the 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target = 23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E10870-C475-9BAC-A4B9-26BEE343E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901950"/>
            <a:ext cx="10515599" cy="456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0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224AC3-DE4D-761D-7E65-D26873A1F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609600"/>
            <a:ext cx="112776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910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4480BF-FDDD-CCF4-99D1-B0F2EBA296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609600"/>
            <a:ext cx="112776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76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2" name="Rectangle 718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4" name="Rectangle 718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6" name="Rectangle 718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8" name="Rectangle 718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CAD0BC5-B002-45B3-9F1F-A3982DFD1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609600"/>
            <a:ext cx="11277600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0280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B5E221-D6B7-BDA3-24DC-B7924D00D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202" y="350196"/>
            <a:ext cx="5523977" cy="162452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Non-Comparison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63BC9-D75F-55E3-8E64-1932B3DFC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203" y="2324912"/>
            <a:ext cx="5523977" cy="4533088"/>
          </a:xfrm>
        </p:spPr>
        <p:txBody>
          <a:bodyPr anchor="ctr">
            <a:normAutofit lnSpcReduction="10000"/>
          </a:bodyPr>
          <a:lstStyle/>
          <a:p>
            <a:pPr algn="just"/>
            <a:r>
              <a:rPr lang="en-US" sz="2000" dirty="0"/>
              <a:t>Non-comparison sorting algorithms sort elements without directly comparing them against one another. Unlike traditional comparison-based sorting (like Merge Sort or Quick Sort), these algorithms use element properties, such as digit values or frequency counts, to organize the data.</a:t>
            </a:r>
          </a:p>
          <a:p>
            <a:pPr algn="just">
              <a:buNone/>
            </a:pPr>
            <a:r>
              <a:rPr lang="en-US" sz="2000" b="1" dirty="0"/>
              <a:t>Key Concept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These algorithms </a:t>
            </a:r>
            <a:r>
              <a:rPr lang="en-US" sz="2000" b="1" dirty="0"/>
              <a:t>rely on assumptions</a:t>
            </a:r>
            <a:r>
              <a:rPr lang="en-US" sz="2000" dirty="0"/>
              <a:t> about the data—often that elements are integers or can be mapped to integers within a known, limited range.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They typically achieve </a:t>
            </a:r>
            <a:r>
              <a:rPr lang="en-US" sz="2000" b="1" dirty="0"/>
              <a:t>linear time complexity</a:t>
            </a:r>
            <a:r>
              <a:rPr lang="en-US" sz="2000" dirty="0"/>
              <a:t>, making them highly efficient for specific kinds of inputs.</a:t>
            </a:r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5" name="Picture 4" descr="Green and yellow layers">
            <a:extLst>
              <a:ext uri="{FF2B5EF4-FFF2-40B4-BE49-F238E27FC236}">
                <a16:creationId xmlns:a16="http://schemas.microsoft.com/office/drawing/2014/main" id="{BB097804-C8ED-109A-700F-66108287E2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55" r="12608" b="-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04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E65D517-46E4-8037-A63D-629DE1253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959F4A-8E99-4093-E452-19542FA4B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276198"/>
            <a:ext cx="10477600" cy="1157242"/>
          </a:xfrm>
        </p:spPr>
        <p:txBody>
          <a:bodyPr>
            <a:normAutofit/>
          </a:bodyPr>
          <a:lstStyle/>
          <a:p>
            <a:r>
              <a:rPr lang="en-US" sz="4000"/>
              <a:t>Comparison vs Non-Comparison Sorting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C0B9449-0AC7-93FC-497F-3F542B7186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5648276"/>
              </p:ext>
            </p:extLst>
          </p:nvPr>
        </p:nvGraphicFramePr>
        <p:xfrm>
          <a:off x="758952" y="1972611"/>
          <a:ext cx="10477600" cy="4318462"/>
        </p:xfrm>
        <a:graphic>
          <a:graphicData uri="http://schemas.openxmlformats.org/drawingml/2006/table">
            <a:tbl>
              <a:tblPr/>
              <a:tblGrid>
                <a:gridCol w="3487046">
                  <a:extLst>
                    <a:ext uri="{9D8B030D-6E8A-4147-A177-3AD203B41FA5}">
                      <a16:colId xmlns:a16="http://schemas.microsoft.com/office/drawing/2014/main" val="3228041460"/>
                    </a:ext>
                  </a:extLst>
                </a:gridCol>
                <a:gridCol w="3421190">
                  <a:extLst>
                    <a:ext uri="{9D8B030D-6E8A-4147-A177-3AD203B41FA5}">
                      <a16:colId xmlns:a16="http://schemas.microsoft.com/office/drawing/2014/main" val="3186640085"/>
                    </a:ext>
                  </a:extLst>
                </a:gridCol>
                <a:gridCol w="3569364">
                  <a:extLst>
                    <a:ext uri="{9D8B030D-6E8A-4147-A177-3AD203B41FA5}">
                      <a16:colId xmlns:a16="http://schemas.microsoft.com/office/drawing/2014/main" val="536584705"/>
                    </a:ext>
                  </a:extLst>
                </a:gridCol>
              </a:tblGrid>
              <a:tr h="86660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Feature</a:t>
                      </a:r>
                    </a:p>
                  </a:txBody>
                  <a:tcPr marL="109633" marR="109633" marT="54817" marB="548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Comparison-Based</a:t>
                      </a:r>
                    </a:p>
                  </a:txBody>
                  <a:tcPr marL="109633" marR="109633" marT="54817" marB="548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Non-Comparison Based</a:t>
                      </a:r>
                    </a:p>
                  </a:txBody>
                  <a:tcPr marL="109633" marR="109633" marT="54817" marB="548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20063"/>
                  </a:ext>
                </a:extLst>
              </a:tr>
              <a:tr h="678111">
                <a:tc>
                  <a:txBody>
                    <a:bodyPr/>
                    <a:lstStyle/>
                    <a:p>
                      <a:pPr algn="just"/>
                      <a:r>
                        <a:rPr lang="en-US" sz="2200" dirty="0"/>
                        <a:t>Time Complexity (Best)</a:t>
                      </a:r>
                    </a:p>
                  </a:txBody>
                  <a:tcPr marL="109633" marR="109633" marT="54817" marB="548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dirty="0"/>
                        <a:t>O(n log n)</a:t>
                      </a:r>
                    </a:p>
                  </a:txBody>
                  <a:tcPr marL="109633" marR="109633" marT="54817" marB="548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dirty="0"/>
                        <a:t>O(n) (under constraints)</a:t>
                      </a:r>
                    </a:p>
                  </a:txBody>
                  <a:tcPr marL="109633" marR="109633" marT="54817" marB="548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90552"/>
                  </a:ext>
                </a:extLst>
              </a:tr>
              <a:tr h="924583">
                <a:tc>
                  <a:txBody>
                    <a:bodyPr/>
                    <a:lstStyle/>
                    <a:p>
                      <a:pPr algn="just"/>
                      <a:r>
                        <a:rPr lang="en-US" sz="2200"/>
                        <a:t>Data Type</a:t>
                      </a:r>
                    </a:p>
                  </a:txBody>
                  <a:tcPr marL="109633" marR="109633" marT="54817" marB="548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dirty="0"/>
                        <a:t>Any (as long as it's comparable)</a:t>
                      </a:r>
                    </a:p>
                  </a:txBody>
                  <a:tcPr marL="109633" marR="109633" marT="54817" marB="548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dirty="0"/>
                        <a:t>Usually integers or mappable to integers</a:t>
                      </a:r>
                    </a:p>
                  </a:txBody>
                  <a:tcPr marL="109633" marR="109633" marT="54817" marB="548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132457"/>
                  </a:ext>
                </a:extLst>
              </a:tr>
              <a:tr h="924583">
                <a:tc>
                  <a:txBody>
                    <a:bodyPr/>
                    <a:lstStyle/>
                    <a:p>
                      <a:pPr algn="just"/>
                      <a:r>
                        <a:rPr lang="en-US" sz="2200"/>
                        <a:t>Example Algorithms</a:t>
                      </a:r>
                    </a:p>
                  </a:txBody>
                  <a:tcPr marL="109633" marR="109633" marT="54817" marB="548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dirty="0"/>
                        <a:t>Quick Sort, Merge Sort</a:t>
                      </a:r>
                    </a:p>
                  </a:txBody>
                  <a:tcPr marL="109633" marR="109633" marT="54817" marB="548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dirty="0"/>
                        <a:t>Radix Sort, Counting Sort, Bucket Sort</a:t>
                      </a:r>
                    </a:p>
                  </a:txBody>
                  <a:tcPr marL="109633" marR="109633" marT="54817" marB="548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498059"/>
                  </a:ext>
                </a:extLst>
              </a:tr>
              <a:tr h="924583">
                <a:tc>
                  <a:txBody>
                    <a:bodyPr/>
                    <a:lstStyle/>
                    <a:p>
                      <a:pPr algn="just"/>
                      <a:r>
                        <a:rPr lang="en-US" sz="2200" dirty="0"/>
                        <a:t>Based on</a:t>
                      </a:r>
                    </a:p>
                  </a:txBody>
                  <a:tcPr marL="109633" marR="109633" marT="54817" marB="548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dirty="0"/>
                        <a:t>Element-to-element comparison</a:t>
                      </a:r>
                    </a:p>
                  </a:txBody>
                  <a:tcPr marL="109633" marR="109633" marT="54817" marB="548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dirty="0"/>
                        <a:t>Value distribution or structure</a:t>
                      </a:r>
                    </a:p>
                  </a:txBody>
                  <a:tcPr marL="109633" marR="109633" marT="54817" marB="548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98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1073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505</Words>
  <Application>Microsoft Office PowerPoint</Application>
  <PresentationFormat>Widescreen</PresentationFormat>
  <Paragraphs>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Nunito</vt:lpstr>
      <vt:lpstr>Office Theme</vt:lpstr>
      <vt:lpstr>Parallel &amp; Distributed Computing  Lecture # 9</vt:lpstr>
      <vt:lpstr>Introduction to Divide and Conquer</vt:lpstr>
      <vt:lpstr>Core Concept</vt:lpstr>
      <vt:lpstr>PowerPoint Presentation</vt:lpstr>
      <vt:lpstr>PowerPoint Presentation</vt:lpstr>
      <vt:lpstr>PowerPoint Presentation</vt:lpstr>
      <vt:lpstr>PowerPoint Presentation</vt:lpstr>
      <vt:lpstr>Binary Search Algorithm</vt:lpstr>
      <vt:lpstr>Example</vt:lpstr>
      <vt:lpstr>PowerPoint Presentation</vt:lpstr>
      <vt:lpstr>PowerPoint Presentation</vt:lpstr>
      <vt:lpstr>PowerPoint Presentation</vt:lpstr>
      <vt:lpstr>Non-Comparison Sorting</vt:lpstr>
      <vt:lpstr>Comparison vs Non-Comparison Sorting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Akbar</dc:creator>
  <cp:lastModifiedBy>Ali Akbar</cp:lastModifiedBy>
  <cp:revision>1</cp:revision>
  <dcterms:created xsi:type="dcterms:W3CDTF">2025-05-22T07:04:30Z</dcterms:created>
  <dcterms:modified xsi:type="dcterms:W3CDTF">2025-12-22T09:23:30Z</dcterms:modified>
</cp:coreProperties>
</file>